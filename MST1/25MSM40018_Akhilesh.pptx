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702" r:id="rId2"/>
    <p:sldMasterId id="2147483686" r:id="rId3"/>
  </p:sldMasterIdLst>
  <p:notesMasterIdLst>
    <p:notesMasterId r:id="rId14"/>
  </p:notesMasterIdLst>
  <p:handoutMasterIdLst>
    <p:handoutMasterId r:id="rId15"/>
  </p:handoutMasterIdLst>
  <p:sldIdLst>
    <p:sldId id="277" r:id="rId4"/>
    <p:sldId id="400" r:id="rId5"/>
    <p:sldId id="424" r:id="rId20"/>
    <p:sldId id="408" r:id="rId6"/>
    <p:sldId id="401" r:id="rId7"/>
    <p:sldId id="409" r:id="rId8"/>
    <p:sldId id="420" r:id="rId9"/>
    <p:sldId id="421" r:id="rId10"/>
    <p:sldId id="422" r:id="rId11"/>
    <p:sldId id="423" r:id="rId12"/>
    <p:sldId id="41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137"/>
    <a:srgbClr val="BC8F00"/>
    <a:srgbClr val="860000"/>
    <a:srgbClr val="00B0F0"/>
    <a:srgbClr val="1B3F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4" autoAdjust="0"/>
    <p:restoredTop sz="95196" autoAdjust="0"/>
  </p:normalViewPr>
  <p:slideViewPr>
    <p:cSldViewPr snapToGrid="0">
      <p:cViewPr varScale="1">
        <p:scale>
          <a:sx n="81" d="100"/>
          <a:sy n="81" d="100"/>
        </p:scale>
        <p:origin x="902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-3168" y="-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CDA8E9-9948-4BC7-A1DE-415AE6D34228}" type="datetimeFigureOut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B5F544-A886-482E-AF73-1D6364AAC65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9196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4AE53-78AB-4E30-A376-70F5FA87A326}" type="datetimeFigureOut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732FBC-CC67-4B17-8935-02F23E3364A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55582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19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36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4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201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216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204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860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762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815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494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"/>
          <p:cNvSpPr/>
          <p:nvPr userDrawn="1"/>
        </p:nvSpPr>
        <p:spPr>
          <a:xfrm>
            <a:off x="-19050" y="1905000"/>
            <a:ext cx="12211050" cy="4953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4" name="Прямоугольник 8"/>
          <p:cNvSpPr/>
          <p:nvPr userDrawn="1"/>
        </p:nvSpPr>
        <p:spPr>
          <a:xfrm>
            <a:off x="-19050" y="0"/>
            <a:ext cx="12211050" cy="4438650"/>
          </a:xfrm>
          <a:custGeom>
            <a:avLst/>
            <a:gdLst>
              <a:gd name="connsiteX0" fmla="*/ 0 w 12192000"/>
              <a:gd name="connsiteY0" fmla="*/ 0 h 4133850"/>
              <a:gd name="connsiteX1" fmla="*/ 12192000 w 12192000"/>
              <a:gd name="connsiteY1" fmla="*/ 0 h 4133850"/>
              <a:gd name="connsiteX2" fmla="*/ 12192000 w 12192000"/>
              <a:gd name="connsiteY2" fmla="*/ 4133850 h 4133850"/>
              <a:gd name="connsiteX3" fmla="*/ 0 w 12192000"/>
              <a:gd name="connsiteY3" fmla="*/ 4133850 h 4133850"/>
              <a:gd name="connsiteX4" fmla="*/ 0 w 12192000"/>
              <a:gd name="connsiteY4" fmla="*/ 0 h 4133850"/>
              <a:gd name="connsiteX0" fmla="*/ 19050 w 12211050"/>
              <a:gd name="connsiteY0" fmla="*/ 0 h 4133850"/>
              <a:gd name="connsiteX1" fmla="*/ 12211050 w 12211050"/>
              <a:gd name="connsiteY1" fmla="*/ 0 h 4133850"/>
              <a:gd name="connsiteX2" fmla="*/ 12211050 w 12211050"/>
              <a:gd name="connsiteY2" fmla="*/ 4133850 h 4133850"/>
              <a:gd name="connsiteX3" fmla="*/ 0 w 12211050"/>
              <a:gd name="connsiteY3" fmla="*/ 3219450 h 4133850"/>
              <a:gd name="connsiteX4" fmla="*/ 19050 w 12211050"/>
              <a:gd name="connsiteY4" fmla="*/ 0 h 4133850"/>
              <a:gd name="connsiteX0" fmla="*/ 19050 w 12211050"/>
              <a:gd name="connsiteY0" fmla="*/ 0 h 4438650"/>
              <a:gd name="connsiteX1" fmla="*/ 12211050 w 12211050"/>
              <a:gd name="connsiteY1" fmla="*/ 0 h 4438650"/>
              <a:gd name="connsiteX2" fmla="*/ 12211050 w 12211050"/>
              <a:gd name="connsiteY2" fmla="*/ 4438650 h 4438650"/>
              <a:gd name="connsiteX3" fmla="*/ 0 w 12211050"/>
              <a:gd name="connsiteY3" fmla="*/ 3219450 h 4438650"/>
              <a:gd name="connsiteX4" fmla="*/ 19050 w 12211050"/>
              <a:gd name="connsiteY4" fmla="*/ 0 h 443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11050" h="4438650">
                <a:moveTo>
                  <a:pt x="19050" y="0"/>
                </a:moveTo>
                <a:lnTo>
                  <a:pt x="12211050" y="0"/>
                </a:lnTo>
                <a:lnTo>
                  <a:pt x="12211050" y="4438650"/>
                </a:lnTo>
                <a:lnTo>
                  <a:pt x="0" y="3219450"/>
                </a:lnTo>
                <a:lnTo>
                  <a:pt x="19050" y="0"/>
                </a:lnTo>
                <a:close/>
              </a:path>
            </a:pathLst>
          </a:cu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5" name="Прямоугольник 3"/>
          <p:cNvSpPr/>
          <p:nvPr userDrawn="1"/>
        </p:nvSpPr>
        <p:spPr>
          <a:xfrm>
            <a:off x="1085850" y="1009650"/>
            <a:ext cx="10020300" cy="523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1847850" y="2819400"/>
            <a:ext cx="8496300" cy="2800350"/>
          </a:xfrm>
          <a:prstGeom prst="rect">
            <a:avLst/>
          </a:prstGeom>
        </p:spPr>
        <p:txBody>
          <a:bodyPr/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97408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19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36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4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201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216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204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860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762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815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494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"/>
          <p:cNvSpPr/>
          <p:nvPr userDrawn="1"/>
        </p:nvSpPr>
        <p:spPr>
          <a:xfrm>
            <a:off x="-19050" y="1905000"/>
            <a:ext cx="12211050" cy="4953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4" name="Прямоугольник 8"/>
          <p:cNvSpPr/>
          <p:nvPr userDrawn="1"/>
        </p:nvSpPr>
        <p:spPr>
          <a:xfrm>
            <a:off x="-19050" y="0"/>
            <a:ext cx="12211050" cy="4438650"/>
          </a:xfrm>
          <a:custGeom>
            <a:avLst/>
            <a:gdLst>
              <a:gd name="connsiteX0" fmla="*/ 0 w 12192000"/>
              <a:gd name="connsiteY0" fmla="*/ 0 h 4133850"/>
              <a:gd name="connsiteX1" fmla="*/ 12192000 w 12192000"/>
              <a:gd name="connsiteY1" fmla="*/ 0 h 4133850"/>
              <a:gd name="connsiteX2" fmla="*/ 12192000 w 12192000"/>
              <a:gd name="connsiteY2" fmla="*/ 4133850 h 4133850"/>
              <a:gd name="connsiteX3" fmla="*/ 0 w 12192000"/>
              <a:gd name="connsiteY3" fmla="*/ 4133850 h 4133850"/>
              <a:gd name="connsiteX4" fmla="*/ 0 w 12192000"/>
              <a:gd name="connsiteY4" fmla="*/ 0 h 4133850"/>
              <a:gd name="connsiteX0" fmla="*/ 19050 w 12211050"/>
              <a:gd name="connsiteY0" fmla="*/ 0 h 4133850"/>
              <a:gd name="connsiteX1" fmla="*/ 12211050 w 12211050"/>
              <a:gd name="connsiteY1" fmla="*/ 0 h 4133850"/>
              <a:gd name="connsiteX2" fmla="*/ 12211050 w 12211050"/>
              <a:gd name="connsiteY2" fmla="*/ 4133850 h 4133850"/>
              <a:gd name="connsiteX3" fmla="*/ 0 w 12211050"/>
              <a:gd name="connsiteY3" fmla="*/ 3219450 h 4133850"/>
              <a:gd name="connsiteX4" fmla="*/ 19050 w 12211050"/>
              <a:gd name="connsiteY4" fmla="*/ 0 h 4133850"/>
              <a:gd name="connsiteX0" fmla="*/ 19050 w 12211050"/>
              <a:gd name="connsiteY0" fmla="*/ 0 h 4438650"/>
              <a:gd name="connsiteX1" fmla="*/ 12211050 w 12211050"/>
              <a:gd name="connsiteY1" fmla="*/ 0 h 4438650"/>
              <a:gd name="connsiteX2" fmla="*/ 12211050 w 12211050"/>
              <a:gd name="connsiteY2" fmla="*/ 4438650 h 4438650"/>
              <a:gd name="connsiteX3" fmla="*/ 0 w 12211050"/>
              <a:gd name="connsiteY3" fmla="*/ 3219450 h 4438650"/>
              <a:gd name="connsiteX4" fmla="*/ 19050 w 12211050"/>
              <a:gd name="connsiteY4" fmla="*/ 0 h 443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11050" h="4438650">
                <a:moveTo>
                  <a:pt x="19050" y="0"/>
                </a:moveTo>
                <a:lnTo>
                  <a:pt x="12211050" y="0"/>
                </a:lnTo>
                <a:lnTo>
                  <a:pt x="12211050" y="4438650"/>
                </a:lnTo>
                <a:lnTo>
                  <a:pt x="0" y="3219450"/>
                </a:lnTo>
                <a:lnTo>
                  <a:pt x="19050" y="0"/>
                </a:lnTo>
                <a:close/>
              </a:path>
            </a:pathLst>
          </a:cu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5" name="Прямоугольник 3"/>
          <p:cNvSpPr/>
          <p:nvPr userDrawn="1"/>
        </p:nvSpPr>
        <p:spPr>
          <a:xfrm>
            <a:off x="1085850" y="1009650"/>
            <a:ext cx="10020300" cy="523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1847850" y="2819400"/>
            <a:ext cx="8496300" cy="2800350"/>
          </a:xfrm>
          <a:prstGeom prst="rect">
            <a:avLst/>
          </a:prstGeom>
        </p:spPr>
        <p:txBody>
          <a:bodyPr/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97408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9A48AB-23F1-45F1-98E5-D2CDC7A5261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6835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3020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2723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2723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7159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sic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735627" y="164638"/>
            <a:ext cx="9456373" cy="76808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735627" y="932723"/>
            <a:ext cx="9456373" cy="38404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0" y="1"/>
            <a:ext cx="2543605" cy="686418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378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0" y="2276872"/>
            <a:ext cx="12192000" cy="2400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3" name="Isosceles Triangle 2"/>
          <p:cNvSpPr/>
          <p:nvPr userDrawn="1"/>
        </p:nvSpPr>
        <p:spPr>
          <a:xfrm rot="10800000">
            <a:off x="158339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2" name="Isosceles Triangle 11"/>
          <p:cNvSpPr/>
          <p:nvPr userDrawn="1"/>
        </p:nvSpPr>
        <p:spPr>
          <a:xfrm rot="10800000">
            <a:off x="446371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3" name="Isosceles Triangle 12"/>
          <p:cNvSpPr/>
          <p:nvPr userDrawn="1"/>
        </p:nvSpPr>
        <p:spPr>
          <a:xfrm rot="10800000">
            <a:off x="734403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4" name="Isosceles Triangle 13"/>
          <p:cNvSpPr/>
          <p:nvPr userDrawn="1"/>
        </p:nvSpPr>
        <p:spPr>
          <a:xfrm rot="10800000">
            <a:off x="10224348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16" name="Rectangle 15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1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815413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3695732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6576051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9456369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7217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5231904" y="2276872"/>
            <a:ext cx="5711957" cy="39364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103445" y="1412776"/>
            <a:ext cx="4560000" cy="36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62005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990600"/>
            <a:ext cx="3887755" cy="5867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079776" y="0"/>
            <a:ext cx="8112224" cy="36210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574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1013496"/>
            <a:ext cx="3887755" cy="35676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8304245" y="0"/>
            <a:ext cx="3887755" cy="45811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0" y="4773149"/>
            <a:ext cx="6096000" cy="20848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595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595027" y="4101331"/>
            <a:ext cx="2400000" cy="230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16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9196973" y="1700808"/>
            <a:ext cx="2400000" cy="230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16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13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95027" y="1700808"/>
            <a:ext cx="2400000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9196973" y="4101331"/>
            <a:ext cx="2400000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119669" y="4101331"/>
            <a:ext cx="5952663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3119669" y="1700808"/>
            <a:ext cx="5952663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8359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709650" y="480055"/>
            <a:ext cx="4224469" cy="41970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126140" y="480056"/>
            <a:ext cx="6336704" cy="22961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5126140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7310492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9494844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2302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767" y="2276873"/>
            <a:ext cx="7238124" cy="3966041"/>
          </a:xfrm>
          <a:prstGeom prst="rect">
            <a:avLst/>
          </a:prstGeom>
        </p:spPr>
      </p:pic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705875" y="2485912"/>
            <a:ext cx="4832891" cy="31242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rgbClr val="EB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rgbClr val="EB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041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Picture 4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400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6826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7251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90990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53956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816922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6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12192000" cy="41010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14657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grpSp>
        <p:nvGrpSpPr>
          <p:cNvPr id="5" name="Group 4"/>
          <p:cNvGrpSpPr/>
          <p:nvPr userDrawn="1"/>
        </p:nvGrpSpPr>
        <p:grpSpPr>
          <a:xfrm>
            <a:off x="472011" y="1508786"/>
            <a:ext cx="3799787" cy="4865561"/>
            <a:chOff x="354008" y="1131589"/>
            <a:chExt cx="2849840" cy="3649171"/>
          </a:xfrm>
        </p:grpSpPr>
        <p:sp>
          <p:nvSpPr>
            <p:cNvPr id="6" name="Rounded Rectangle 5"/>
            <p:cNvSpPr/>
            <p:nvPr/>
          </p:nvSpPr>
          <p:spPr>
            <a:xfrm>
              <a:off x="354008" y="1131589"/>
              <a:ext cx="2849840" cy="3649171"/>
            </a:xfrm>
            <a:prstGeom prst="roundRect">
              <a:avLst>
                <a:gd name="adj" fmla="val 3968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 dirty="0">
                <a:solidFill>
                  <a:prstClr val="white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31932" y="1347500"/>
              <a:ext cx="108520" cy="324047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  <p:sp>
          <p:nvSpPr>
            <p:cNvPr id="12" name="Half Frame 11"/>
            <p:cNvSpPr/>
            <p:nvPr/>
          </p:nvSpPr>
          <p:spPr>
            <a:xfrm rot="5400000">
              <a:off x="2592642" y="1238201"/>
              <a:ext cx="502331" cy="502331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197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2.xml"/><Relationship Id="rId15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 cstate="print">
            <a:lum/>
          </a:blip>
          <a:srcRect/>
          <a:stretch>
            <a:fillRect l="1000" t="-1000" r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39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5" cstate="print">
            <a:lum/>
          </a:blip>
          <a:srcRect/>
          <a:stretch>
            <a:fillRect l="1000" t="-1000" r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DBBEF-AA6C-4BA6-85B2-A17D7F280E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39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544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i.org/10.1016/j.health.2022.100130" TargetMode="External"/><Relationship Id="rId3" Type="http://schemas.openxmlformats.org/officeDocument/2006/relationships/hyperlink" Target="https://doi.org/10.3390/a16020088" TargetMode="External"/><Relationship Id="rId4" Type="http://schemas.openxmlformats.org/officeDocument/2006/relationships/hyperlink" Target="https://doi.org/10.3390/diagnostics13142392" TargetMode="External"/><Relationship Id="rId5" Type="http://schemas.openxmlformats.org/officeDocument/2006/relationships/hyperlink" Target="https://doi.org/10.3390/app12157449" TargetMode="External"/><Relationship Id="rId6" Type="http://schemas.openxmlformats.org/officeDocument/2006/relationships/hyperlink" Target="https://doi.org/10.3390/info13100475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-4421" y="6053794"/>
            <a:ext cx="12196420" cy="439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302197" y="5901985"/>
            <a:ext cx="45719" cy="61388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Slide Number Placeholder 2"/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6" name="Right Triangle 45">
            <a:extLst>
              <a:ext uri="{FF2B5EF4-FFF2-40B4-BE49-F238E27FC236}">
                <a16:creationId xmlns:a16="http://schemas.microsoft.com/office/drawing/2014/main" id="{0983CA01-DED8-4A8A-82CA-5B1BE1DADB0C}"/>
              </a:ext>
            </a:extLst>
          </p:cNvPr>
          <p:cNvSpPr/>
          <p:nvPr/>
        </p:nvSpPr>
        <p:spPr>
          <a:xfrm flipV="1">
            <a:off x="9506857" y="5939880"/>
            <a:ext cx="1291772" cy="1157606"/>
          </a:xfrm>
          <a:prstGeom prst="rtTriangle">
            <a:avLst/>
          </a:prstGeom>
          <a:solidFill>
            <a:srgbClr val="FFFFFF">
              <a:lumMod val="95000"/>
              <a:alpha val="17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0983CA01-DED8-4A8A-82CA-5B1BE1DADB0C}"/>
              </a:ext>
            </a:extLst>
          </p:cNvPr>
          <p:cNvSpPr/>
          <p:nvPr/>
        </p:nvSpPr>
        <p:spPr>
          <a:xfrm flipH="1">
            <a:off x="7045437" y="-64960"/>
            <a:ext cx="5146562" cy="5852440"/>
          </a:xfrm>
          <a:prstGeom prst="rtTriangle">
            <a:avLst/>
          </a:prstGeom>
          <a:solidFill>
            <a:srgbClr val="FFFFFF">
              <a:lumMod val="95000"/>
              <a:alpha val="17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677432" y="1417388"/>
            <a:ext cx="6829425" cy="2797237"/>
          </a:xfrm>
          <a:prstGeom prst="rect">
            <a:avLst/>
          </a:prstGeom>
          <a:gradFill flip="none" rotWithShape="1">
            <a:gsLst>
              <a:gs pos="15000">
                <a:srgbClr val="FFFFFF">
                  <a:alpha val="34000"/>
                </a:srgbClr>
              </a:gs>
              <a:gs pos="94000">
                <a:srgbClr val="FFFFFF">
                  <a:alpha val="34000"/>
                </a:srgbClr>
              </a:gs>
              <a:gs pos="2655">
                <a:schemeClr val="bg1">
                  <a:alpha val="0"/>
                </a:schemeClr>
              </a:gs>
              <a:gs pos="51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43" name="Right Triangle 42"/>
          <p:cNvSpPr/>
          <p:nvPr/>
        </p:nvSpPr>
        <p:spPr>
          <a:xfrm rot="10800000" flipV="1">
            <a:off x="9829797" y="5333999"/>
            <a:ext cx="2366623" cy="1600201"/>
          </a:xfrm>
          <a:prstGeom prst="rt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/>
          <p:cNvSpPr txBox="1">
            <a:spLocks noChangeArrowheads="1"/>
          </p:cNvSpPr>
          <p:nvPr/>
        </p:nvSpPr>
        <p:spPr bwMode="auto">
          <a:xfrm>
            <a:off x="6881359" y="6019560"/>
            <a:ext cx="492860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pPr lvl="0"/>
            <a:r>
              <a:rPr lang="en-US" sz="20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DISCOVER . </a:t>
            </a:r>
            <a:r>
              <a:rPr lang="en-US" sz="2000" b="1" dirty="0">
                <a:solidFill>
                  <a:srgbClr val="C00000"/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LEARN</a:t>
            </a:r>
            <a:r>
              <a:rPr lang="en-US" sz="20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 . EMPOWER</a:t>
            </a:r>
            <a:endParaRPr lang="en-US" sz="1200" b="1" dirty="0">
              <a:solidFill>
                <a:prstClr val="black"/>
              </a:solidFill>
              <a:latin typeface="Casper" panose="02000506000000020004" pitchFamily="2" charset="0"/>
            </a:endParaRPr>
          </a:p>
          <a:p>
            <a:pPr eaLnBrk="1" hangingPunct="1"/>
            <a:endParaRPr lang="en-US" sz="1600" b="1" dirty="0">
              <a:latin typeface="Casper" panose="02000506000000020004" pitchFamily="2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885780" y="6043646"/>
            <a:ext cx="45719" cy="3706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/>
          <p:cNvSpPr txBox="1">
            <a:spLocks noChangeArrowheads="1"/>
          </p:cNvSpPr>
          <p:nvPr/>
        </p:nvSpPr>
        <p:spPr bwMode="auto">
          <a:xfrm>
            <a:off x="443345" y="6014156"/>
            <a:ext cx="5882609" cy="424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r>
              <a:rPr sz="2200" b="1" i="0">
                <a:solidFill>
                  <a:srgbClr val="102C57"/>
                </a:solidFill>
                <a:latin typeface="Calibri"/>
              </a:rPr>
              <a:t>Department of Mathematics</a:t>
            </a:r>
          </a:p>
        </p:txBody>
      </p:sp>
      <p:sp>
        <p:nvSpPr>
          <p:cNvPr id="26" name="TextBox 25"/>
          <p:cNvSpPr txBox="1">
            <a:spLocks noChangeArrowheads="1"/>
          </p:cNvSpPr>
          <p:nvPr/>
        </p:nvSpPr>
        <p:spPr bwMode="auto">
          <a:xfrm>
            <a:off x="1803633" y="1687128"/>
            <a:ext cx="85770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pPr algn="ctr"/>
            <a:r>
              <a:rPr sz="3200" b="1" i="0">
                <a:solidFill>
                  <a:srgbClr val="102C57"/>
                </a:solidFill>
                <a:latin typeface="Times New Roman"/>
              </a:rPr>
              <a:t>Fraud-BERT: Transformer Based Context Aware Online Recruitment Fraud Detection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2722" y="4475274"/>
            <a:ext cx="35490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800" b="1" i="0">
                <a:solidFill>
                  <a:srgbClr val="102C57"/>
                </a:solidFill>
                <a:latin typeface="Calibri"/>
              </a:rPr>
              <a:t>Submitted by:</a:t>
            </a:r>
          </a:p>
          <a:p>
            <a:r>
              <a:rPr sz="1800" b="1" i="0">
                <a:solidFill>
                  <a:srgbClr val="323232"/>
                </a:solidFill>
                <a:latin typeface="Calibri"/>
              </a:rPr>
              <a:t>STUDENT NAME: </a:t>
            </a:r>
            <a:r>
              <a:rPr sz="1800" b="0" i="0">
                <a:solidFill>
                  <a:srgbClr val="323232"/>
                </a:solidFill>
                <a:latin typeface="Calibri"/>
              </a:rPr>
              <a:t>Akhilesh Yadav</a:t>
            </a:r>
          </a:p>
          <a:p>
            <a:r>
              <a:rPr sz="1800" b="1" i="0">
                <a:solidFill>
                  <a:srgbClr val="323232"/>
                </a:solidFill>
                <a:latin typeface="Calibri"/>
              </a:rPr>
              <a:t>UID: </a:t>
            </a:r>
            <a:r>
              <a:rPr sz="1800" b="0" i="0">
                <a:solidFill>
                  <a:srgbClr val="323232"/>
                </a:solidFill>
                <a:latin typeface="Calibri"/>
              </a:rPr>
              <a:t>25MSM40018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9405" y="4511168"/>
            <a:ext cx="41155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800" b="1" i="0">
                <a:solidFill>
                  <a:srgbClr val="102C57"/>
                </a:solidFill>
                <a:latin typeface="Calibri"/>
              </a:rPr>
              <a:t>Under the Supervision of:</a:t>
            </a:r>
          </a:p>
          <a:p>
            <a:r>
              <a:rPr sz="1800" b="1" i="0">
                <a:solidFill>
                  <a:srgbClr val="323232"/>
                </a:solidFill>
                <a:latin typeface="Calibri"/>
              </a:rPr>
              <a:t>SUPERVISOR’S NAME: </a:t>
            </a:r>
            <a:r>
              <a:rPr sz="1800" b="0" i="0">
                <a:solidFill>
                  <a:srgbClr val="323232"/>
                </a:solidFill>
                <a:latin typeface="Calibri"/>
              </a:rPr>
              <a:t>Dr. Sunil Kumar</a:t>
            </a:r>
          </a:p>
        </p:txBody>
      </p:sp>
    </p:spTree>
    <p:extLst>
      <p:ext uri="{BB962C8B-B14F-4D97-AF65-F5344CB8AC3E}">
        <p14:creationId xmlns:p14="http://schemas.microsoft.com/office/powerpoint/2010/main" val="456502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8681" y="347744"/>
            <a:ext cx="2093686" cy="798287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2693" y="1582057"/>
            <a:ext cx="10515600" cy="4731657"/>
          </a:xfrm>
        </p:spPr>
        <p:txBody>
          <a:bodyPr>
            <a:normAutofit/>
          </a:bodyPr>
          <a:lstStyle/>
          <a:p/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1. Introduction: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Background on Online Recruitment Fraud (ORF) and challenges in automated scam detection.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2. Literature Review: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Comparative analysis of 5 landmark research studies in recruitment fraud detection.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3. Selected Landmark Study (Fraud-BERT):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Research problem, scope, and core objectives by Taneja et al. (2025).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4. Machine Learning Methods &amp; Architecture: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BERT transformer architecture, multi-head self-attention, and classification head.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5. Proposed Prediction Model Pipeline: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5-stage end-to-end framework from text preprocessing &amp; tokenization to inference.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6. Dataset &amp; Class Imbalance Analysis: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EMSCAD benchmark dataset characteristics, attribute types, and severe 95:5 class imbalance.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7. Results &amp; Comparative Performance: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Empirical performance evaluation (Accuracy, Macro F1, Recall, ROC-AUC) against baselines.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102C57"/>
                </a:solidFill>
                <a:latin typeface="Calibri"/>
              </a:rPr>
              <a:t>8. Bibliography or References: </a:t>
            </a:r>
            <a:r>
              <a:rPr sz="1600" b="0" i="0">
                <a:solidFill>
                  <a:srgbClr val="323232"/>
                </a:solidFill>
                <a:latin typeface="Calibri"/>
              </a:rPr>
              <a:t>Complete bibliographic citations of the 5 reviewed studies in standard APA 7th edition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01012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785" y="331417"/>
            <a:ext cx="10515600" cy="716437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A4AD280-3F55-72FF-C9B7-7A970916C7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888794"/>
              </p:ext>
            </p:extLst>
          </p:nvPr>
        </p:nvGraphicFramePr>
        <p:xfrm>
          <a:off x="838200" y="1306567"/>
          <a:ext cx="101534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590">
                  <a:extLst>
                    <a:ext uri="{9D8B030D-6E8A-4147-A177-3AD203B41FA5}">
                      <a16:colId xmlns:a16="http://schemas.microsoft.com/office/drawing/2014/main" val="2688401972"/>
                    </a:ext>
                  </a:extLst>
                </a:gridCol>
                <a:gridCol w="4004137">
                  <a:extLst>
                    <a:ext uri="{9D8B030D-6E8A-4147-A177-3AD203B41FA5}">
                      <a16:colId xmlns:a16="http://schemas.microsoft.com/office/drawing/2014/main" val="1537079347"/>
                    </a:ext>
                  </a:extLst>
                </a:gridCol>
                <a:gridCol w="2538364">
                  <a:extLst>
                    <a:ext uri="{9D8B030D-6E8A-4147-A177-3AD203B41FA5}">
                      <a16:colId xmlns:a16="http://schemas.microsoft.com/office/drawing/2014/main" val="1235190417"/>
                    </a:ext>
                  </a:extLst>
                </a:gridCol>
                <a:gridCol w="2538364">
                  <a:extLst>
                    <a:ext uri="{9D8B030D-6E8A-4147-A177-3AD203B41FA5}">
                      <a16:colId xmlns:a16="http://schemas.microsoft.com/office/drawing/2014/main" val="4257983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02C57"/>
                          </a:solidFill>
                          <a:latin typeface="Calibri"/>
                        </a:rPr>
                        <a:t>Paper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02C57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02C57"/>
                          </a:solidFill>
                          <a:latin typeface="Calibri"/>
                        </a:rPr>
                        <a:t>Authors &amp;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02C57"/>
                          </a:solidFill>
                          <a:latin typeface="Calibri"/>
                        </a:rPr>
                        <a:t>DOI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078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323232"/>
                          </a:solidFill>
                          <a:latin typeface="Calibri"/>
                        </a:rPr>
                        <a:t>Fraud-BERT: Transformer Based Context Aware Online Recruitment Fraud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K. Taneja, J. Vashishtha, S. Ratnoo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10.1007/s44425-025-00109-x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8387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Detecting Fake Job Postings Using Bidirectional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A. S. Pillai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10.56726/IRJMETS34628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29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A Machine Learning Approach to Detecting Fraudulent Job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M. Naudé, K. J. Adebayo, R. Nanda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10.1007/s00146-021-01314-z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607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Detecting Fraud Job Recruitment Using Features Reflecting from Real-world Knowledge of Fraud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B. Chiraratanasopha, T. Chay-intr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10.55003/cast.2022.06.22.015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0729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Online Recruitment Fraud Detection Using Deep Learning Approaches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G. Varshitha, K. Sowmya, K. Sheshma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323232"/>
                          </a:solidFill>
                          <a:latin typeface="Calibri"/>
                        </a:rPr>
                        <a:t>10.36948/ijfmr.2026.v08i02.14582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864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0246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94854"/>
            <a:ext cx="10515600" cy="1325563"/>
          </a:xfrm>
        </p:spPr>
        <p:txBody>
          <a:bodyPr>
            <a:normAutofit fontScale="90000"/>
          </a:bodyPr>
          <a:lstStyle/>
          <a:p>
            <a:r>
              <a:rPr sz="2600" b="1" i="0">
                <a:solidFill>
                  <a:srgbClr val="102C57"/>
                </a:solidFill>
                <a:latin typeface="Calibri"/>
              </a:rPr>
              <a:t>Fraud-BERT: Transformer Based Context Aware Online Recruitment Fraud Detection</a:t>
            </a:r>
          </a:p>
          <a:p>
            <a:r>
              <a:rPr sz="1600" b="0" i="1">
                <a:solidFill>
                  <a:srgbClr val="0066CC"/>
                </a:solidFill>
                <a:latin typeface="Calibri"/>
              </a:rPr>
              <a:t>DOI: 10.1007/s44425-025-00109-x  |  Discover Computing (Springer, 2025)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415805"/>
            <a:ext cx="10515600" cy="3707860"/>
          </a:xfrm>
        </p:spPr>
        <p:txBody>
          <a:bodyPr>
            <a:noAutofit/>
          </a:bodyPr>
          <a:lstStyle/>
          <a:p/>
          <a:p>
            <a:pPr>
              <a:spcAft>
                <a:spcPts val="10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Goal: </a:t>
            </a:r>
            <a:r>
              <a:rPr sz="2000" b="0" i="0">
                <a:solidFill>
                  <a:srgbClr val="323232"/>
                </a:solidFill>
                <a:latin typeface="Calibri"/>
              </a:rPr>
              <a:t>To develop a high-accuracy, context-aware online recruitment fraud detection framework using fine-tuned BERT transformer architecture.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Why this study is important: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323232"/>
                </a:solidFill>
                <a:latin typeface="Calibri"/>
              </a:rPr>
              <a:t>• Online job scams deceive vulnerable job seekers, causing severe monetary extortion, identity theft, and data compromise.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323232"/>
                </a:solidFill>
                <a:latin typeface="Calibri"/>
              </a:rPr>
              <a:t>• Traditional machine learning models (LR, SVM, RF) rely on bag-of-words or static embeddings that ignore linguistic context, word order, and polysemy.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323232"/>
                </a:solidFill>
                <a:latin typeface="Calibri"/>
              </a:rPr>
              <a:t>• Transformer-based bidirectional self-attention enables deep contextual awareness, significantly reducing false alarms and improving detection reliability on highly imbalanced job post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DD254-6A9D-EC5A-3C0F-9005CE174E46}"/>
              </a:ext>
            </a:extLst>
          </p:cNvPr>
          <p:cNvSpPr txBox="1"/>
          <p:nvPr/>
        </p:nvSpPr>
        <p:spPr>
          <a:xfrm>
            <a:off x="838200" y="1620417"/>
            <a:ext cx="38363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2000" b="1" i="0">
                <a:solidFill>
                  <a:srgbClr val="102C57"/>
                </a:solidFill>
                <a:latin typeface="Calibri"/>
              </a:rPr>
              <a:t>Authors: </a:t>
            </a:r>
            <a:r>
              <a:rPr sz="2000" b="0" i="0">
                <a:solidFill>
                  <a:srgbClr val="323232"/>
                </a:solidFill>
                <a:latin typeface="Calibri"/>
              </a:rPr>
              <a:t>Khushboo Taneja, Jyoti Vashishtha, Saroj Ratnoo</a:t>
            </a:r>
          </a:p>
        </p:txBody>
      </p:sp>
    </p:spTree>
    <p:extLst>
      <p:ext uri="{BB962C8B-B14F-4D97-AF65-F5344CB8AC3E}">
        <p14:creationId xmlns:p14="http://schemas.microsoft.com/office/powerpoint/2010/main" val="4093034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8384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Machine Learning Methods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2763"/>
            <a:ext cx="10515600" cy="5086149"/>
          </a:xfrm>
        </p:spPr>
        <p:txBody>
          <a:bodyPr>
            <a:noAutofit/>
          </a:bodyPr>
          <a:lstStyle/>
          <a:p/>
          <a:p>
            <a:r>
              <a:rPr sz="2000" b="0" i="0">
                <a:solidFill>
                  <a:srgbClr val="646464"/>
                </a:solidFill>
                <a:latin typeface="Calibri"/>
              </a:rPr>
              <a:t>The study employs: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Fraud-BERT (Bidirectional Encoder Representations from Transformers):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Pre-trained multi-layer bidirectional Transformer encoder network (bert-base-uncased).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Extracts dynamic token representations via masked language modeling and next sentence objectives.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Captures full contextual dependencies from both left-to-right and right-to-left simultaneously.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Fine-tuned end-to-end with a classification head on domain-specific recruitment data.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Transformer Architecture Components: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Input Layer: Element-wise sum of Token Embeddings, Positional Embeddings, and Segment Embeddings.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12 Transformer Encoder Blocks: Featuring Multi-Head Self-Attention mechanisms (768 hidden dimensions).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Feed-Forward Layers: Position-wise feed-forward networks with Dropout, Layer Normalization, and Residual Connections.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Classification Head: Linear dense projection layer over the [CLS] token with Softmax probability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3254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3724"/>
            <a:ext cx="6646682" cy="984704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Proposed Prediction Model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09835"/>
            <a:ext cx="10515600" cy="5046515"/>
          </a:xfrm>
        </p:spPr>
        <p:txBody>
          <a:bodyPr>
            <a:normAutofit/>
          </a:bodyPr>
          <a:lstStyle/>
          <a:p/>
          <a:p>
            <a:r>
              <a:rPr sz="2000" b="0" i="0">
                <a:solidFill>
                  <a:srgbClr val="646464"/>
                </a:solidFill>
                <a:latin typeface="Calibri"/>
              </a:rPr>
              <a:t>The prediction framework operates across 5 structured stages: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Stage 1: Data Preprocessing &amp; Tokenization: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Text normalization, noise &amp; HTML tag cleaning, and WordPiece tokenization with a sequence length of 512 tokens.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Stage 2: Contextual Representation Extraction: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Passing token IDs through 12 transformer encoder blocks to generate 768-dimensional bidirectional contextual embeddings.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Stage 3: Model Fine-Tuning &amp; Optimization: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Fine-tuning Fraud-BERT end-to-end using the AdamW optimizer with weight decay, linear warmup, and binary cross-entropy loss.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Stage 4: Prediction &amp; Classification Inference: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Extracting the [CLS] special token vector and projecting through a dense classification head to output class probabilities (0 = Legitimate, 1 = Fraudulent).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Stage 5: Multi-Metric Performance Evaluation: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Comprehensive evaluation using Accuracy, Macro Precision, Macro Recall, Macro F1-Score, and ROC-AUC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88085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5942"/>
            <a:ext cx="10515600" cy="970189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Dataset Used (EMSCAD)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8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12F6842-8552-FC78-4FA9-1028AA412F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301121"/>
            <a:ext cx="8032423" cy="54014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Benchmark Source: </a:t>
            </a:r>
            <a:r>
              <a:rPr sz="1900" b="0" i="0">
                <a:solidFill>
                  <a:srgbClr val="323232"/>
                </a:solidFill>
                <a:latin typeface="Calibri"/>
              </a:rPr>
              <a:t>Employment Scam Aegean Dataset (EMSCAD) / Kaggle Repository (University of the Aegean)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Dataset Characteristics: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Contains 17,880 real-world job advertisement records collected from 2012 to 2014.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Rich Textual Attributes: Job Title, Company Profile, Description, Requirements, and Benefits.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Categorical &amp; Metadata Features: Telecommuting, Has Company Logo, Has Screening Questions, Employment Type, Required Experience, and Education.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Target Class Distribution (Severe Real-World Imbalance):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Class 0 (Legitimate Postings): 17,014 samples (~ 95.16%)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Class 1 (Fraudulent Postings): 866 samples (~ 4.84%)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323232"/>
                </a:solidFill>
                <a:latin typeface="Calibri"/>
              </a:rPr>
              <a:t>• Imbalance Challenge: Due to the high class skew, macro-averaged metrics (Macro F1 &amp; ROC-AUC) are mandatory to prevent majority-class bias.</a:t>
            </a:r>
          </a:p>
        </p:txBody>
      </p:sp>
    </p:spTree>
    <p:extLst>
      <p:ext uri="{BB962C8B-B14F-4D97-AF65-F5344CB8AC3E}">
        <p14:creationId xmlns:p14="http://schemas.microsoft.com/office/powerpoint/2010/main" val="2694603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99138"/>
            <a:ext cx="6404429" cy="926645"/>
          </a:xfrm>
        </p:spPr>
        <p:txBody>
          <a:bodyPr>
            <a:normAutofit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Results &amp;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2057"/>
            <a:ext cx="10515600" cy="4594906"/>
          </a:xfrm>
        </p:spPr>
        <p:txBody>
          <a:bodyPr>
            <a:normAutofit/>
          </a:bodyPr>
          <a:lstStyle/>
          <a:p/>
          <a:p>
            <a:pPr>
              <a:spcAft>
                <a:spcPts val="800"/>
              </a:spcAft>
            </a:pPr>
            <a:r>
              <a:rPr sz="2000" b="1" i="0">
                <a:solidFill>
                  <a:srgbClr val="102C57"/>
                </a:solidFill>
                <a:latin typeface="Calibri"/>
              </a:rPr>
              <a:t>Fraud-BERT achieved state-of-the-art results on the EMSCAD benchmark:</a:t>
            </a:r>
          </a:p>
          <a:p>
            <a:pPr>
              <a:spcAft>
                <a:spcPts val="500"/>
              </a:spcAft>
            </a:pPr>
            <a:r>
              <a:rPr sz="1800" b="1" i="0">
                <a:solidFill>
                  <a:srgbClr val="323232"/>
                </a:solidFill>
                <a:latin typeface="Calibri"/>
              </a:rPr>
              <a:t>• Overall Classification Accuracy: </a:t>
            </a:r>
            <a:r>
              <a:rPr sz="1800" b="1" i="0">
                <a:solidFill>
                  <a:srgbClr val="102C57"/>
                </a:solidFill>
                <a:latin typeface="Calibri"/>
              </a:rPr>
              <a:t>99.0% (0.99) </a:t>
            </a:r>
            <a:r>
              <a:rPr sz="1600" b="0" i="1">
                <a:solidFill>
                  <a:srgbClr val="505050"/>
                </a:solidFill>
                <a:latin typeface="Calibri"/>
              </a:rPr>
              <a:t>(Near-flawless classification across the complete test partition.)</a:t>
            </a:r>
          </a:p>
          <a:p>
            <a:pPr>
              <a:spcAft>
                <a:spcPts val="500"/>
              </a:spcAft>
            </a:pPr>
            <a:r>
              <a:rPr sz="1800" b="1" i="0">
                <a:solidFill>
                  <a:srgbClr val="323232"/>
                </a:solidFill>
                <a:latin typeface="Calibri"/>
              </a:rPr>
              <a:t>• Macro-Averaged Precision: </a:t>
            </a:r>
            <a:r>
              <a:rPr sz="1800" b="1" i="0">
                <a:solidFill>
                  <a:srgbClr val="102C57"/>
                </a:solidFill>
                <a:latin typeface="Calibri"/>
              </a:rPr>
              <a:t>94.0% (0.94) </a:t>
            </a:r>
            <a:r>
              <a:rPr sz="1600" b="0" i="1">
                <a:solidFill>
                  <a:srgbClr val="505050"/>
                </a:solidFill>
                <a:latin typeface="Calibri"/>
              </a:rPr>
              <a:t>(High precision ensures minimal false alarms for legitimate employers.)</a:t>
            </a:r>
          </a:p>
          <a:p>
            <a:pPr>
              <a:spcAft>
                <a:spcPts val="500"/>
              </a:spcAft>
            </a:pPr>
            <a:r>
              <a:rPr sz="1800" b="1" i="0">
                <a:solidFill>
                  <a:srgbClr val="323232"/>
                </a:solidFill>
                <a:latin typeface="Calibri"/>
              </a:rPr>
              <a:t>• Macro-Averaged Recall: </a:t>
            </a:r>
            <a:r>
              <a:rPr sz="1800" b="1" i="0">
                <a:solidFill>
                  <a:srgbClr val="102C57"/>
                </a:solidFill>
                <a:latin typeface="Calibri"/>
              </a:rPr>
              <a:t>92.0% (0.92) </a:t>
            </a:r>
            <a:r>
              <a:rPr sz="1600" b="0" i="1">
                <a:solidFill>
                  <a:srgbClr val="505050"/>
                </a:solidFill>
                <a:latin typeface="Calibri"/>
              </a:rPr>
              <a:t>(Detects over 92% of fraudulent listings despite extreme class sparsity.)</a:t>
            </a:r>
          </a:p>
          <a:p>
            <a:pPr>
              <a:spcAft>
                <a:spcPts val="500"/>
              </a:spcAft>
            </a:pPr>
            <a:r>
              <a:rPr sz="1800" b="1" i="0">
                <a:solidFill>
                  <a:srgbClr val="323232"/>
                </a:solidFill>
                <a:latin typeface="Calibri"/>
              </a:rPr>
              <a:t>• Macro-Averaged F1-Score: </a:t>
            </a:r>
            <a:r>
              <a:rPr sz="1800" b="1" i="0">
                <a:solidFill>
                  <a:srgbClr val="102C57"/>
                </a:solidFill>
                <a:latin typeface="Calibri"/>
              </a:rPr>
              <a:t>93.0% (0.93) </a:t>
            </a:r>
            <a:r>
              <a:rPr sz="1600" b="0" i="1">
                <a:solidFill>
                  <a:srgbClr val="505050"/>
                </a:solidFill>
                <a:latin typeface="Calibri"/>
              </a:rPr>
              <a:t>(Balanced harmonic performance across both majority and minority classes.)</a:t>
            </a:r>
          </a:p>
          <a:p>
            <a:pPr>
              <a:spcAft>
                <a:spcPts val="500"/>
              </a:spcAft>
            </a:pPr>
            <a:r>
              <a:rPr sz="1800" b="1" i="0">
                <a:solidFill>
                  <a:srgbClr val="323232"/>
                </a:solidFill>
                <a:latin typeface="Calibri"/>
              </a:rPr>
              <a:t>• ROC-AUC Score: </a:t>
            </a:r>
            <a:r>
              <a:rPr sz="1800" b="1" i="0">
                <a:solidFill>
                  <a:srgbClr val="102C57"/>
                </a:solidFill>
                <a:latin typeface="Calibri"/>
              </a:rPr>
              <a:t>0.99 </a:t>
            </a:r>
            <a:r>
              <a:rPr sz="1600" b="0" i="1">
                <a:solidFill>
                  <a:srgbClr val="505050"/>
                </a:solidFill>
                <a:latin typeface="Calibri"/>
              </a:rPr>
              <a:t>(Demonstrates exceptional discrimination capability between genuine and fake posts.)</a:t>
            </a:r>
          </a:p>
          <a:p>
            <a:pPr>
              <a:spcBef>
                <a:spcPts val="800"/>
              </a:spcBef>
            </a:pPr>
            <a:r>
              <a:rPr sz="1800" b="1" i="0">
                <a:solidFill>
                  <a:srgbClr val="102C57"/>
                </a:solidFill>
                <a:latin typeface="Calibri"/>
              </a:rPr>
              <a:t>Comparative Conclusion: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Fraud-BERT decisively outperforms traditional ML models (Logistic Regression F1: 0.86, Random Forest F1: 0.85) and static Bi-LSTM (AUC: 0.88) by capturing deep bidirectional linguistic context across complex recruitment scams.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87139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7A3C-C78E-3208-1872-119F59D69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0677"/>
          </a:xfrm>
        </p:spPr>
        <p:txBody>
          <a:bodyPr>
            <a:normAutofit fontScale="90000"/>
          </a:bodyPr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Bibliography or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A669F-24DE-9251-47BD-73C228B1E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4283"/>
            <a:ext cx="10515600" cy="5138591"/>
          </a:xfrm>
        </p:spPr>
        <p:txBody>
          <a:bodyPr>
            <a:normAutofit/>
          </a:bodyPr>
          <a:lstStyle/>
          <a:p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102C57"/>
                </a:solidFill>
                <a:latin typeface="Calibri"/>
              </a:rPr>
              <a:t>[1] 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Taneja, K., Vashishtha, J., &amp; Ratnoo, S. (2025). Fraud-BERT: Transformer based context aware online recruitment fraud detection.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Discover Computing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,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28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(9), 1–16.</a:t>
            </a:r>
            <a:r>
              <a:rPr sz="1200" b="0" i="0">
                <a:solidFill>
                  <a:srgbClr val="0066CC"/>
                </a:solidFill>
                <a:latin typeface="Calibri"/>
              </a:rPr>
              <a:t> https://doi.org/10.1007/s44425-025-00109-x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102C57"/>
                </a:solidFill>
                <a:latin typeface="Calibri"/>
              </a:rPr>
              <a:t>[2] 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Pillai, A. S. (2023). Detecting fake job postings using bidirectional LSTM.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International Research Journal of Modernization in Engineering Technology and Science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,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5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(3), 3883–3890.</a:t>
            </a:r>
            <a:r>
              <a:rPr sz="1200" b="0" i="0">
                <a:solidFill>
                  <a:srgbClr val="0066CC"/>
                </a:solidFill>
                <a:latin typeface="Calibri"/>
              </a:rPr>
              <a:t> https://doi.org/10.56726/IRJMETS34628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102C57"/>
                </a:solidFill>
                <a:latin typeface="Calibri"/>
              </a:rPr>
              <a:t>[3] 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Naudé, M., Adebayo, K. J., &amp; Nanda, R. (2023). A machine learning approach to detecting fraudulent job types.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AI &amp; SOCIETY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,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38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(3), 1013–1024.</a:t>
            </a:r>
            <a:r>
              <a:rPr sz="1200" b="0" i="0">
                <a:solidFill>
                  <a:srgbClr val="0066CC"/>
                </a:solidFill>
                <a:latin typeface="Calibri"/>
              </a:rPr>
              <a:t> https://doi.org/10.1007/s00146-021-01314-z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102C57"/>
                </a:solidFill>
                <a:latin typeface="Calibri"/>
              </a:rPr>
              <a:t>[4] 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Chiraratanasopha, B., &amp; Chay-intr, T. (2022). Detecting fraud job recruitment using features reflecting from real-world knowledge of fraud.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Current Applied Science and Technology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,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22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(6), 1–12.</a:t>
            </a:r>
            <a:r>
              <a:rPr sz="1200" b="0" i="0">
                <a:solidFill>
                  <a:srgbClr val="0066CC"/>
                </a:solidFill>
                <a:latin typeface="Calibri"/>
              </a:rPr>
              <a:t> https://doi.org/10.55003/cast.2022.06.22.015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102C57"/>
                </a:solidFill>
                <a:latin typeface="Calibri"/>
              </a:rPr>
              <a:t>[5] 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Varshitha, G., Sowmya, K., Sheshma, K., Sowmya, K., &amp; Manikandan, R. A. (2026). Online recruitment fraud detection using deep learning approaches.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International Journal for Multidisciplinary Research (IJFMR)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, </a:t>
            </a:r>
            <a:r>
              <a:rPr sz="1300" b="0" i="1">
                <a:solidFill>
                  <a:srgbClr val="323232"/>
                </a:solidFill>
                <a:latin typeface="Calibri"/>
              </a:rPr>
              <a:t>8</a:t>
            </a:r>
            <a:r>
              <a:rPr sz="1300" b="0" i="0">
                <a:solidFill>
                  <a:srgbClr val="323232"/>
                </a:solidFill>
                <a:latin typeface="Calibri"/>
              </a:rPr>
              <a:t>(2), 1–9.</a:t>
            </a:r>
            <a:r>
              <a:rPr sz="1200" b="0" i="0">
                <a:solidFill>
                  <a:srgbClr val="0066CC"/>
                </a:solidFill>
                <a:latin typeface="Calibri"/>
              </a:rPr>
              <a:t> https://doi.org/10.36948/ijfmr.2026.v08i02.14582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A35CC-DD65-AB1D-D9C1-30BD38C2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2681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1686" cy="4571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" y="2864077"/>
            <a:ext cx="12191999" cy="1129845"/>
          </a:xfrm>
        </p:spPr>
        <p:txBody>
          <a:bodyPr>
            <a:normAutofit/>
          </a:bodyPr>
          <a:lstStyle/>
          <a:p>
            <a:pPr algn="ctr"/>
            <a:r>
              <a:rPr sz="6000" b="1" i="0">
                <a:solidFill>
                  <a:srgbClr val="102C57"/>
                </a:solidFill>
                <a:latin typeface="Times New Roman"/>
              </a:rPr>
              <a:t>Thank You 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131580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 i="0">
                <a:solidFill>
                  <a:srgbClr val="102C57"/>
                </a:solidFill>
                <a:latin typeface="Calibri"/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Online Recruitment Fraud (ORF) Threat: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Cyber-criminals exploit professional job portals (LinkedIn, Indeed) by posting deceptive employment ads to extort application/visa fees and harvest confidential personal data (PII).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Severe Real-World Class Imbalance: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Genuine postings overwhelmingly dominate online platforms (&gt;95%), creating extreme class sparsity where fake postings account for less than 5% of all advertisements.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Limitations of Traditional Machine Learning: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Conventional algorithms (Logistic Regression, Support Vector Machines, Random Forests) rely on Bag-of-Words (BoW) and TF-IDF vectors, completely ignoring syntactic sentence structure and word order.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Deficiencies of Static Word Embeddings: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Early deep learning approaches (CNNs, standard LSTMs) utilize static embeddings (Word2Vec, GloVe) that assign a single fixed vector per word, failing to handle context-dependent polysemous fraud terms.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02C57"/>
                </a:solidFill>
                <a:latin typeface="Calibri"/>
              </a:rPr>
              <a:t>• Motivation for Transformer-Based Architecture: </a:t>
            </a:r>
            <a:r>
              <a:rPr sz="1700" b="0" i="0">
                <a:solidFill>
                  <a:srgbClr val="323232"/>
                </a:solidFill>
                <a:latin typeface="Calibri"/>
              </a:rPr>
              <a:t>Pre-trained Bidirectional Encoder Representations from Transformers (BERT) leverage multi-head self-attention to dynamically capture bidirectional semantic dependencies, dramatically minimizing false positives.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78787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ontents Slide Master">
  <a:themeElements>
    <a:clrScheme name="ALLPPT-COLOR-A3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F4A4A"/>
      </a:accent1>
      <a:accent2>
        <a:srgbClr val="262626"/>
      </a:accent2>
      <a:accent3>
        <a:srgbClr val="EF4A4A"/>
      </a:accent3>
      <a:accent4>
        <a:srgbClr val="262626"/>
      </a:accent4>
      <a:accent5>
        <a:srgbClr val="EF4A4A"/>
      </a:accent5>
      <a:accent6>
        <a:srgbClr val="26262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smaple</Template>
  <TotalTime>8120</TotalTime>
  <Words>763</Words>
  <Application>Microsoft Office PowerPoint</Application>
  <PresentationFormat>Widescreen</PresentationFormat>
  <Paragraphs>106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Calibri Light</vt:lpstr>
      <vt:lpstr>Casper</vt:lpstr>
      <vt:lpstr>Courier New</vt:lpstr>
      <vt:lpstr>Times New Roman</vt:lpstr>
      <vt:lpstr>1_Office Theme</vt:lpstr>
      <vt:lpstr>2_Office Theme</vt:lpstr>
      <vt:lpstr>Contents Slide Master</vt:lpstr>
      <vt:lpstr>PowerPoint Presentation</vt:lpstr>
      <vt:lpstr>Content</vt:lpstr>
      <vt:lpstr>Related Five-Research  Paper</vt:lpstr>
      <vt:lpstr>A Classification and Regression Tree Algorithm for Heart Disease Modeling and Prediction DOI:10.1016/j.health.2022.100130 </vt:lpstr>
      <vt:lpstr>Machine Learning Methods Used</vt:lpstr>
      <vt:lpstr>Proposed Prediction Model</vt:lpstr>
      <vt:lpstr>Dataset Used</vt:lpstr>
      <vt:lpstr>Results</vt:lpstr>
      <vt:lpstr>References</vt:lpstr>
      <vt:lpstr>Thank You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Branding</dc:creator>
  <cp:lastModifiedBy>Akhilesh Yadav</cp:lastModifiedBy>
  <cp:revision>697</cp:revision>
  <dcterms:created xsi:type="dcterms:W3CDTF">2019-01-09T10:33:58Z</dcterms:created>
  <dcterms:modified xsi:type="dcterms:W3CDTF">2026-04-28T10:41:46Z</dcterms:modified>
</cp:coreProperties>
</file>