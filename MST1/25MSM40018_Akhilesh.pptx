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702" r:id="rId2"/>
    <p:sldMasterId id="2147483686" r:id="rId3"/>
  </p:sldMasterIdLst>
  <p:notesMasterIdLst>
    <p:notesMasterId r:id="rId14"/>
  </p:notesMasterIdLst>
  <p:handoutMasterIdLst>
    <p:handoutMasterId r:id="rId15"/>
  </p:handoutMasterIdLst>
  <p:sldIdLst>
    <p:sldId id="277" r:id="rId4"/>
    <p:sldId id="400" r:id="rId5"/>
    <p:sldId id="408" r:id="rId6"/>
    <p:sldId id="401" r:id="rId7"/>
    <p:sldId id="409" r:id="rId8"/>
    <p:sldId id="420" r:id="rId9"/>
    <p:sldId id="421" r:id="rId10"/>
    <p:sldId id="422" r:id="rId11"/>
    <p:sldId id="423" r:id="rId12"/>
    <p:sldId id="41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74" autoAdjust="0"/>
    <p:restoredTop sz="95196" autoAdjust="0"/>
  </p:normalViewPr>
  <p:slideViewPr>
    <p:cSldViewPr snapToGrid="0">
      <p:cViewPr varScale="1">
        <p:scale>
          <a:sx n="81" d="100"/>
          <a:sy n="81" d="100"/>
        </p:scale>
        <p:origin x="902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-3168" y="-7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handoutMaster" Target="handoutMasters/handout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4/28/2026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4/28/2026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e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jpe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5.xml"/><Relationship Id="rId14" Type="http://schemas.openxmlformats.org/officeDocument/2006/relationships/theme" Target="../theme/theme2.xml"/><Relationship Id="rId15" Type="http://schemas.openxmlformats.org/officeDocument/2006/relationships/image" Target="../media/image1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9.xml"/><Relationship Id="rId5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39.xml"/><Relationship Id="rId15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oi.org/10.1016/j.health.2022.100130" TargetMode="External"/><Relationship Id="rId3" Type="http://schemas.openxmlformats.org/officeDocument/2006/relationships/hyperlink" Target="https://doi.org/10.3390/a16020088" TargetMode="External"/><Relationship Id="rId4" Type="http://schemas.openxmlformats.org/officeDocument/2006/relationships/hyperlink" Target="https://doi.org/10.3390/diagnostics13142392" TargetMode="External"/><Relationship Id="rId5" Type="http://schemas.openxmlformats.org/officeDocument/2006/relationships/hyperlink" Target="https://doi.org/10.3390/app12157449" TargetMode="External"/><Relationship Id="rId6" Type="http://schemas.openxmlformats.org/officeDocument/2006/relationships/hyperlink" Target="https://doi.org/10.3390/info13100475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6053794"/>
            <a:ext cx="12196420" cy="4391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677432" y="1417388"/>
            <a:ext cx="6829425" cy="2797237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443345" y="6014156"/>
            <a:ext cx="5882609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r>
              <a:rPr sz="2200" b="1" i="0">
                <a:solidFill>
                  <a:srgbClr val="102C57"/>
                </a:solidFill>
                <a:latin typeface="Calibri"/>
              </a:rPr>
              <a:t>Department of Mathematics</a:t>
            </a: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803633" y="1687128"/>
            <a:ext cx="8577021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sz="3200" b="1" i="0">
                <a:solidFill>
                  <a:srgbClr val="102C57"/>
                </a:solidFill>
                <a:latin typeface="Times New Roman"/>
              </a:rPr>
              <a:t>Fraud-BERT: Transformer Based Context Aware Online Recruitment Fraud Detection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382722" y="4475274"/>
            <a:ext cx="354904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800" b="1" i="0">
                <a:solidFill>
                  <a:srgbClr val="102C57"/>
                </a:solidFill>
                <a:latin typeface="Calibri"/>
              </a:rPr>
              <a:t>Submitted by:</a:t>
            </a:r>
          </a:p>
          <a:p>
            <a:r>
              <a:rPr sz="1800" b="1" i="0">
                <a:solidFill>
                  <a:srgbClr val="323232"/>
                </a:solidFill>
                <a:latin typeface="Calibri"/>
              </a:rPr>
              <a:t>STUDENT NAME: </a:t>
            </a:r>
            <a:r>
              <a:rPr sz="1800" b="0" i="0">
                <a:solidFill>
                  <a:srgbClr val="323232"/>
                </a:solidFill>
                <a:latin typeface="Calibri"/>
              </a:rPr>
              <a:t>Akhilesh Yadav</a:t>
            </a:r>
          </a:p>
          <a:p>
            <a:r>
              <a:rPr sz="1800" b="1" i="0">
                <a:solidFill>
                  <a:srgbClr val="323232"/>
                </a:solidFill>
                <a:latin typeface="Calibri"/>
              </a:rPr>
              <a:t>UID: </a:t>
            </a:r>
            <a:r>
              <a:rPr sz="1800" b="0" i="0">
                <a:solidFill>
                  <a:srgbClr val="323232"/>
                </a:solidFill>
                <a:latin typeface="Calibri"/>
              </a:rPr>
              <a:t>25MSM40018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29405" y="4511168"/>
            <a:ext cx="411555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800" b="1" i="0">
                <a:solidFill>
                  <a:srgbClr val="102C57"/>
                </a:solidFill>
                <a:latin typeface="Calibri"/>
              </a:rPr>
              <a:t>Under the Supervision of:</a:t>
            </a:r>
          </a:p>
          <a:p>
            <a:r>
              <a:rPr sz="1800" b="1" i="0">
                <a:solidFill>
                  <a:srgbClr val="323232"/>
                </a:solidFill>
                <a:latin typeface="Calibri"/>
              </a:rPr>
              <a:t>SUPERVISOR’S NAME: </a:t>
            </a:r>
            <a:r>
              <a:rPr sz="1800" b="0" i="0">
                <a:solidFill>
                  <a:srgbClr val="323232"/>
                </a:solidFill>
                <a:latin typeface="Calibri"/>
              </a:rPr>
              <a:t>Dr. Sunil Kumar</a:t>
            </a:r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8681" y="347744"/>
            <a:ext cx="2093686" cy="798287"/>
          </a:xfrm>
        </p:spPr>
        <p:txBody>
          <a:bodyPr>
            <a:normAutofit/>
          </a:bodyPr>
          <a:lstStyle/>
          <a:p>
            <a:r>
              <a:rPr sz="3600" b="1" i="0">
                <a:solidFill>
                  <a:srgbClr val="102C57"/>
                </a:solidFill>
                <a:latin typeface="Calibri"/>
              </a:rPr>
              <a:t>Presentation Outlines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2693" y="1582057"/>
            <a:ext cx="10515600" cy="4731657"/>
          </a:xfrm>
        </p:spPr>
        <p:txBody>
          <a:bodyPr>
            <a:normAutofit/>
          </a:bodyPr>
          <a:lstStyle/>
          <a:p/>
          <a:p>
            <a:pPr>
              <a:spcAft>
                <a:spcPts val="600"/>
              </a:spcAft>
            </a:pPr>
            <a:r>
              <a:rPr sz="1700" b="1" i="0">
                <a:solidFill>
                  <a:srgbClr val="102C57"/>
                </a:solidFill>
                <a:latin typeface="Calibri"/>
              </a:rPr>
              <a:t>1. Research Background &amp; Motivation: </a:t>
            </a:r>
            <a:r>
              <a:rPr sz="1700" b="0" i="0">
                <a:solidFill>
                  <a:srgbClr val="323232"/>
                </a:solidFill>
                <a:latin typeface="Calibri"/>
              </a:rPr>
              <a:t>The menace of Online Recruitment Fraud (ORF) and limitations of traditional static classifiers.</a:t>
            </a:r>
          </a:p>
          <a:p>
            <a:pPr>
              <a:spcAft>
                <a:spcPts val="600"/>
              </a:spcAft>
            </a:pPr>
            <a:r>
              <a:rPr sz="1700" b="1" i="0">
                <a:solidFill>
                  <a:srgbClr val="102C57"/>
                </a:solidFill>
                <a:latin typeface="Calibri"/>
              </a:rPr>
              <a:t>2. Review of 5 Benchmark Research Papers: </a:t>
            </a:r>
            <a:r>
              <a:rPr sz="1700" b="0" i="0">
                <a:solidFill>
                  <a:srgbClr val="323232"/>
                </a:solidFill>
                <a:latin typeface="Calibri"/>
              </a:rPr>
              <a:t>Comparative summary of state-of-the-art literature in fake job detection.</a:t>
            </a:r>
          </a:p>
          <a:p>
            <a:pPr>
              <a:spcAft>
                <a:spcPts val="600"/>
              </a:spcAft>
            </a:pPr>
            <a:r>
              <a:rPr sz="1700" b="1" i="0">
                <a:solidFill>
                  <a:srgbClr val="102C57"/>
                </a:solidFill>
                <a:latin typeface="Calibri"/>
              </a:rPr>
              <a:t>3. Selected Landmark Study (Fraud-BERT): </a:t>
            </a:r>
            <a:r>
              <a:rPr sz="1700" b="0" i="0">
                <a:solidFill>
                  <a:srgbClr val="323232"/>
                </a:solidFill>
                <a:latin typeface="Calibri"/>
              </a:rPr>
              <a:t>Research objectives, problem formulation, and key contributions by Taneja et al. (2025).</a:t>
            </a:r>
          </a:p>
          <a:p>
            <a:pPr>
              <a:spcAft>
                <a:spcPts val="600"/>
              </a:spcAft>
            </a:pPr>
            <a:r>
              <a:rPr sz="1700" b="1" i="0">
                <a:solidFill>
                  <a:srgbClr val="102C57"/>
                </a:solidFill>
                <a:latin typeface="Calibri"/>
              </a:rPr>
              <a:t>4. Machine Learning &amp; Transformer Architecture: </a:t>
            </a:r>
            <a:r>
              <a:rPr sz="1700" b="0" i="0">
                <a:solidFill>
                  <a:srgbClr val="323232"/>
                </a:solidFill>
                <a:latin typeface="Calibri"/>
              </a:rPr>
              <a:t>Deep bidirectional transformer encoder, multi-head self-attention, and classification head.</a:t>
            </a:r>
          </a:p>
          <a:p>
            <a:pPr>
              <a:spcAft>
                <a:spcPts val="600"/>
              </a:spcAft>
            </a:pPr>
            <a:r>
              <a:rPr sz="1700" b="1" i="0">
                <a:solidFill>
                  <a:srgbClr val="102C57"/>
                </a:solidFill>
                <a:latin typeface="Calibri"/>
              </a:rPr>
              <a:t>5. Proposed Prediction Model Pipeline: </a:t>
            </a:r>
            <a:r>
              <a:rPr sz="1700" b="0" i="0">
                <a:solidFill>
                  <a:srgbClr val="323232"/>
                </a:solidFill>
                <a:latin typeface="Calibri"/>
              </a:rPr>
              <a:t>End-to-end framework from text preprocessing &amp; tokenization to probability inference.</a:t>
            </a:r>
          </a:p>
          <a:p>
            <a:pPr>
              <a:spcAft>
                <a:spcPts val="600"/>
              </a:spcAft>
            </a:pPr>
            <a:r>
              <a:rPr sz="1700" b="1" i="0">
                <a:solidFill>
                  <a:srgbClr val="102C57"/>
                </a:solidFill>
                <a:latin typeface="Calibri"/>
              </a:rPr>
              <a:t>6. Dataset &amp; Class Imbalance Analysis: </a:t>
            </a:r>
            <a:r>
              <a:rPr sz="1700" b="0" i="0">
                <a:solidFill>
                  <a:srgbClr val="323232"/>
                </a:solidFill>
                <a:latin typeface="Calibri"/>
              </a:rPr>
              <a:t>EMSCAD benchmark dataset characteristics, attribute types, and severe 95:5 class imbalance.</a:t>
            </a:r>
          </a:p>
          <a:p>
            <a:pPr>
              <a:spcAft>
                <a:spcPts val="600"/>
              </a:spcAft>
            </a:pPr>
            <a:r>
              <a:rPr sz="1700" b="1" i="0">
                <a:solidFill>
                  <a:srgbClr val="102C57"/>
                </a:solidFill>
                <a:latin typeface="Calibri"/>
              </a:rPr>
              <a:t>7. Experimental Results &amp; Comparative Analysis: </a:t>
            </a:r>
            <a:r>
              <a:rPr sz="1700" b="0" i="0">
                <a:solidFill>
                  <a:srgbClr val="323232"/>
                </a:solidFill>
                <a:latin typeface="Calibri"/>
              </a:rPr>
              <a:t>Performance metrics (Accuracy, Macro F1, Recall, ROC-AUC) versus baseline models.</a:t>
            </a:r>
          </a:p>
          <a:p>
            <a:pPr>
              <a:spcAft>
                <a:spcPts val="600"/>
              </a:spcAft>
            </a:pPr>
            <a:r>
              <a:rPr sz="1700" b="1" i="0">
                <a:solidFill>
                  <a:srgbClr val="102C57"/>
                </a:solidFill>
                <a:latin typeface="Calibri"/>
              </a:rPr>
              <a:t>8. Key References: </a:t>
            </a:r>
            <a:r>
              <a:rPr sz="1700" b="0" i="0">
                <a:solidFill>
                  <a:srgbClr val="323232"/>
                </a:solidFill>
                <a:latin typeface="Calibri"/>
              </a:rPr>
              <a:t>Bibliographic citations of all 5 reviewed studies in standard APA 7th edition format.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012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785" y="331417"/>
            <a:ext cx="10515600" cy="716437"/>
          </a:xfrm>
        </p:spPr>
        <p:txBody>
          <a:bodyPr>
            <a:normAutofit/>
          </a:bodyPr>
          <a:lstStyle/>
          <a:p>
            <a:r>
              <a:rPr sz="3600" b="1" i="0">
                <a:solidFill>
                  <a:srgbClr val="102C57"/>
                </a:solidFill>
                <a:latin typeface="Calibri"/>
              </a:rPr>
              <a:t>Related Five-Research Paper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A4AD280-3F55-72FF-C9B7-7A970916C7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5888794"/>
              </p:ext>
            </p:extLst>
          </p:nvPr>
        </p:nvGraphicFramePr>
        <p:xfrm>
          <a:off x="838200" y="1306567"/>
          <a:ext cx="1015345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2590">
                  <a:extLst>
                    <a:ext uri="{9D8B030D-6E8A-4147-A177-3AD203B41FA5}">
                      <a16:colId xmlns:a16="http://schemas.microsoft.com/office/drawing/2014/main" val="2688401972"/>
                    </a:ext>
                  </a:extLst>
                </a:gridCol>
                <a:gridCol w="4004137">
                  <a:extLst>
                    <a:ext uri="{9D8B030D-6E8A-4147-A177-3AD203B41FA5}">
                      <a16:colId xmlns:a16="http://schemas.microsoft.com/office/drawing/2014/main" val="1537079347"/>
                    </a:ext>
                  </a:extLst>
                </a:gridCol>
                <a:gridCol w="2538364">
                  <a:extLst>
                    <a:ext uri="{9D8B030D-6E8A-4147-A177-3AD203B41FA5}">
                      <a16:colId xmlns:a16="http://schemas.microsoft.com/office/drawing/2014/main" val="1235190417"/>
                    </a:ext>
                  </a:extLst>
                </a:gridCol>
                <a:gridCol w="2538364">
                  <a:extLst>
                    <a:ext uri="{9D8B030D-6E8A-4147-A177-3AD203B41FA5}">
                      <a16:colId xmlns:a16="http://schemas.microsoft.com/office/drawing/2014/main" val="4257983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02C57"/>
                          </a:solidFill>
                          <a:latin typeface="Calibri"/>
                        </a:rPr>
                        <a:t>Paper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02C57"/>
                          </a:solidFill>
                          <a:latin typeface="Calibri"/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02C57"/>
                          </a:solidFill>
                          <a:latin typeface="Calibri"/>
                        </a:rPr>
                        <a:t>Authors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02C57"/>
                          </a:solidFill>
                          <a:latin typeface="Calibri"/>
                        </a:rPr>
                        <a:t>DOI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3078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2323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323232"/>
                          </a:solidFill>
                          <a:latin typeface="Calibri"/>
                        </a:rPr>
                        <a:t>Fraud-BERT: Transformer Based Context Aware Online Recruitment Fraud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23232"/>
                          </a:solidFill>
                          <a:latin typeface="Calibri"/>
                        </a:rPr>
                        <a:t>K. Taneja, J. Vashishtha, S. Ratnoo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23232"/>
                          </a:solidFill>
                          <a:latin typeface="Calibri"/>
                        </a:rPr>
                        <a:t>10.1007/s44425-025-00109-x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8387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2323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23232"/>
                          </a:solidFill>
                          <a:latin typeface="Calibri"/>
                        </a:rPr>
                        <a:t>Detecting Fake Job Postings Using Bidirectional 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23232"/>
                          </a:solidFill>
                          <a:latin typeface="Calibri"/>
                        </a:rPr>
                        <a:t>A. S. Pillai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23232"/>
                          </a:solidFill>
                          <a:latin typeface="Calibri"/>
                        </a:rPr>
                        <a:t>10.56726/IRJMETS34628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3296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2323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23232"/>
                          </a:solidFill>
                          <a:latin typeface="Calibri"/>
                        </a:rPr>
                        <a:t>A Machine Learning Approach to Detecting Fraudulent Job Types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23232"/>
                          </a:solidFill>
                          <a:latin typeface="Calibri"/>
                        </a:rPr>
                        <a:t>M. Naudé, K. J. Adebayo, R. Nanda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23232"/>
                          </a:solidFill>
                          <a:latin typeface="Calibri"/>
                        </a:rPr>
                        <a:t>10.1007/s00146-021-01314-z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26074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2323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23232"/>
                          </a:solidFill>
                          <a:latin typeface="Calibri"/>
                        </a:rPr>
                        <a:t>Detecting Fraud Job Recruitment Using Features Reflecting from Real-world Knowledge of Fraud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23232"/>
                          </a:solidFill>
                          <a:latin typeface="Calibri"/>
                        </a:rPr>
                        <a:t>B. Chiraratanasopha, T. Chay-intr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23232"/>
                          </a:solidFill>
                          <a:latin typeface="Calibri"/>
                        </a:rPr>
                        <a:t>10.55003/cast.2022.06.22.015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0729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2323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23232"/>
                          </a:solidFill>
                          <a:latin typeface="Calibri"/>
                        </a:rPr>
                        <a:t>Online Recruitment Fraud Detection Using Deep Learning Approaches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23232"/>
                          </a:solidFill>
                          <a:latin typeface="Calibri"/>
                        </a:rPr>
                        <a:t>G. Varshitha, K. Sowmya, K. Sheshma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23232"/>
                          </a:solidFill>
                          <a:latin typeface="Calibri"/>
                        </a:rPr>
                        <a:t>10.36948/ijfmr.2026.v08i02.14582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58642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0246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94854"/>
            <a:ext cx="10515600" cy="1325563"/>
          </a:xfrm>
        </p:spPr>
        <p:txBody>
          <a:bodyPr>
            <a:normAutofit fontScale="90000"/>
          </a:bodyPr>
          <a:lstStyle/>
          <a:p>
            <a:r>
              <a:rPr sz="2600" b="1" i="0">
                <a:solidFill>
                  <a:srgbClr val="102C57"/>
                </a:solidFill>
                <a:latin typeface="Calibri"/>
              </a:rPr>
              <a:t>Fraud-BERT: Transformer Based Context Aware Online Recruitment Fraud Detection</a:t>
            </a:r>
          </a:p>
          <a:p>
            <a:r>
              <a:t>DOI: 10.1007/s44425-025-00109-x</a:t>
            </a:r>
          </a:p>
          <a:p>
            <a:r>
              <a:rPr sz="1600" b="0" i="1">
                <a:solidFill>
                  <a:srgbClr val="0066CC"/>
                </a:solidFill>
                <a:latin typeface="Calibri"/>
              </a:rPr>
              <a:t>DOI: 10.1007/s44425-025-00109-x  |  Discover Computing (Springer, 2025)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415805"/>
            <a:ext cx="10515600" cy="3707860"/>
          </a:xfrm>
        </p:spPr>
        <p:txBody>
          <a:bodyPr>
            <a:noAutofit/>
          </a:bodyPr>
          <a:lstStyle/>
          <a:p/>
          <a:p>
            <a:pPr>
              <a:spcAft>
                <a:spcPts val="1000"/>
              </a:spcAft>
            </a:pPr>
            <a:r>
              <a:rPr sz="2000" b="1" i="0">
                <a:solidFill>
                  <a:srgbClr val="102C57"/>
                </a:solidFill>
                <a:latin typeface="Calibri"/>
              </a:rPr>
              <a:t>Goal: </a:t>
            </a:r>
            <a:r>
              <a:rPr sz="2000" b="0" i="0">
                <a:solidFill>
                  <a:srgbClr val="323232"/>
                </a:solidFill>
                <a:latin typeface="Calibri"/>
              </a:rPr>
              <a:t>To develop a high-accuracy, context-aware online recruitment fraud detection framework using fine-tuned BERT transformer architecture.</a:t>
            </a:r>
          </a:p>
          <a:p>
            <a:pPr>
              <a:spcAft>
                <a:spcPts val="600"/>
              </a:spcAft>
            </a:pPr>
            <a:r>
              <a:rPr sz="2000" b="1" i="0">
                <a:solidFill>
                  <a:srgbClr val="102C57"/>
                </a:solidFill>
                <a:latin typeface="Calibri"/>
              </a:rPr>
              <a:t>Why this study is important: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323232"/>
                </a:solidFill>
                <a:latin typeface="Calibri"/>
              </a:rPr>
              <a:t>• Online job scams deceive vulnerable job seekers, causing severe monetary extortion, identity theft, and data compromise.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323232"/>
                </a:solidFill>
                <a:latin typeface="Calibri"/>
              </a:rPr>
              <a:t>• Traditional machine learning models (LR, SVM, RF) rely on bag-of-words or static embeddings that ignore linguistic context, word order, and polysemy.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323232"/>
                </a:solidFill>
                <a:latin typeface="Calibri"/>
              </a:rPr>
              <a:t>• Transformer-based bidirectional self-attention enables deep contextual awareness, significantly reducing false alarms and improving detection reliability on highly imbalanced job post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1DD254-6A9D-EC5A-3C0F-9005CE174E46}"/>
              </a:ext>
            </a:extLst>
          </p:cNvPr>
          <p:cNvSpPr txBox="1"/>
          <p:nvPr/>
        </p:nvSpPr>
        <p:spPr>
          <a:xfrm>
            <a:off x="838200" y="1620417"/>
            <a:ext cx="38363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2000" b="1" i="0">
                <a:solidFill>
                  <a:srgbClr val="102C57"/>
                </a:solidFill>
                <a:latin typeface="Calibri"/>
              </a:rPr>
              <a:t>Authors: </a:t>
            </a:r>
            <a:r>
              <a:rPr sz="2000" b="0" i="0">
                <a:solidFill>
                  <a:srgbClr val="323232"/>
                </a:solidFill>
                <a:latin typeface="Calibri"/>
              </a:rPr>
              <a:t>Khushboo Taneja, Jyoti Vashishtha, Saroj Ratnoo</a:t>
            </a:r>
          </a:p>
        </p:txBody>
      </p:sp>
    </p:spTree>
    <p:extLst>
      <p:ext uri="{BB962C8B-B14F-4D97-AF65-F5344CB8AC3E}">
        <p14:creationId xmlns:p14="http://schemas.microsoft.com/office/powerpoint/2010/main" val="4093034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8384"/>
          </a:xfrm>
        </p:spPr>
        <p:txBody>
          <a:bodyPr>
            <a:normAutofit/>
          </a:bodyPr>
          <a:lstStyle/>
          <a:p>
            <a:r>
              <a:rPr sz="3600" b="1" i="0">
                <a:solidFill>
                  <a:srgbClr val="102C57"/>
                </a:solidFill>
                <a:latin typeface="Calibri"/>
              </a:rPr>
              <a:t>Machine Learning Methods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52763"/>
            <a:ext cx="10515600" cy="5086149"/>
          </a:xfrm>
        </p:spPr>
        <p:txBody>
          <a:bodyPr>
            <a:noAutofit/>
          </a:bodyPr>
          <a:lstStyle/>
          <a:p/>
          <a:p>
            <a:r>
              <a:rPr sz="2000" b="0" i="0">
                <a:solidFill>
                  <a:srgbClr val="646464"/>
                </a:solidFill>
                <a:latin typeface="Calibri"/>
              </a:rPr>
              <a:t>The study employs:</a:t>
            </a:r>
          </a:p>
          <a:p>
            <a:pPr>
              <a:spcAft>
                <a:spcPts val="400"/>
              </a:spcAft>
            </a:pPr>
            <a:r>
              <a:rPr sz="2000" b="1" i="0">
                <a:solidFill>
                  <a:srgbClr val="102C57"/>
                </a:solidFill>
                <a:latin typeface="Calibri"/>
              </a:rPr>
              <a:t>Fraud-BERT (Bidirectional Encoder Representations from Transformers):</a:t>
            </a:r>
          </a:p>
          <a:p>
            <a:pPr>
              <a:spcAft>
                <a:spcPts val="400"/>
              </a:spcAft>
            </a:pPr>
            <a:r>
              <a:rPr sz="1700" b="0" i="0">
                <a:solidFill>
                  <a:srgbClr val="323232"/>
                </a:solidFill>
                <a:latin typeface="Calibri"/>
              </a:rPr>
              <a:t>• Pre-trained multi-layer bidirectional Transformer encoder network (bert-base-uncased).</a:t>
            </a:r>
          </a:p>
          <a:p>
            <a:pPr>
              <a:spcAft>
                <a:spcPts val="400"/>
              </a:spcAft>
            </a:pPr>
            <a:r>
              <a:rPr sz="1700" b="0" i="0">
                <a:solidFill>
                  <a:srgbClr val="323232"/>
                </a:solidFill>
                <a:latin typeface="Calibri"/>
              </a:rPr>
              <a:t>• Extracts dynamic token representations via masked language modeling and next sentence objectives.</a:t>
            </a:r>
          </a:p>
          <a:p>
            <a:pPr>
              <a:spcAft>
                <a:spcPts val="400"/>
              </a:spcAft>
            </a:pPr>
            <a:r>
              <a:rPr sz="1700" b="0" i="0">
                <a:solidFill>
                  <a:srgbClr val="323232"/>
                </a:solidFill>
                <a:latin typeface="Calibri"/>
              </a:rPr>
              <a:t>• Captures full contextual dependencies from both left-to-right and right-to-left simultaneously.</a:t>
            </a:r>
          </a:p>
          <a:p>
            <a:pPr>
              <a:spcAft>
                <a:spcPts val="400"/>
              </a:spcAft>
            </a:pPr>
            <a:r>
              <a:rPr sz="1700" b="0" i="0">
                <a:solidFill>
                  <a:srgbClr val="323232"/>
                </a:solidFill>
                <a:latin typeface="Calibri"/>
              </a:rPr>
              <a:t>• Fine-tuned end-to-end with a classification head on domain-specific recruitment data.</a:t>
            </a:r>
          </a:p>
          <a:p>
            <a:pPr>
              <a:spcAft>
                <a:spcPts val="400"/>
              </a:spcAft>
            </a:pPr>
            <a:r>
              <a:rPr sz="2000" b="1" i="0">
                <a:solidFill>
                  <a:srgbClr val="102C57"/>
                </a:solidFill>
                <a:latin typeface="Calibri"/>
              </a:rPr>
              <a:t>Transformer Architecture Components:</a:t>
            </a:r>
          </a:p>
          <a:p>
            <a:pPr>
              <a:spcAft>
                <a:spcPts val="400"/>
              </a:spcAft>
            </a:pPr>
            <a:r>
              <a:rPr sz="1700" b="0" i="0">
                <a:solidFill>
                  <a:srgbClr val="323232"/>
                </a:solidFill>
                <a:latin typeface="Calibri"/>
              </a:rPr>
              <a:t>• Input Layer: Element-wise sum of Token Embeddings, Positional Embeddings, and Segment Embeddings.</a:t>
            </a:r>
          </a:p>
          <a:p>
            <a:pPr>
              <a:spcAft>
                <a:spcPts val="400"/>
              </a:spcAft>
            </a:pPr>
            <a:r>
              <a:rPr sz="1700" b="0" i="0">
                <a:solidFill>
                  <a:srgbClr val="323232"/>
                </a:solidFill>
                <a:latin typeface="Calibri"/>
              </a:rPr>
              <a:t>• 12 Transformer Encoder Blocks: Featuring Multi-Head Self-Attention mechanisms (768 hidden dimensions).</a:t>
            </a:r>
          </a:p>
          <a:p>
            <a:pPr>
              <a:spcAft>
                <a:spcPts val="400"/>
              </a:spcAft>
            </a:pPr>
            <a:r>
              <a:rPr sz="1700" b="0" i="0">
                <a:solidFill>
                  <a:srgbClr val="323232"/>
                </a:solidFill>
                <a:latin typeface="Calibri"/>
              </a:rPr>
              <a:t>• Feed-Forward Layers: Position-wise feed-forward networks with Dropout, Layer Normalization, and Residual Connections.</a:t>
            </a:r>
          </a:p>
          <a:p>
            <a:pPr>
              <a:spcAft>
                <a:spcPts val="400"/>
              </a:spcAft>
            </a:pPr>
            <a:r>
              <a:rPr sz="1700" b="0" i="0">
                <a:solidFill>
                  <a:srgbClr val="323232"/>
                </a:solidFill>
                <a:latin typeface="Calibri"/>
              </a:rPr>
              <a:t>• Classification Head: Linear dense projection layer over the [CLS] token with Softmax probability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254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3724"/>
            <a:ext cx="6646682" cy="984704"/>
          </a:xfrm>
        </p:spPr>
        <p:txBody>
          <a:bodyPr>
            <a:normAutofit/>
          </a:bodyPr>
          <a:lstStyle/>
          <a:p>
            <a:r>
              <a:rPr sz="3600" b="1" i="0">
                <a:solidFill>
                  <a:srgbClr val="102C57"/>
                </a:solidFill>
                <a:latin typeface="Calibri"/>
              </a:rPr>
              <a:t>Proposed Prediction Model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09835"/>
            <a:ext cx="10515600" cy="5046515"/>
          </a:xfrm>
        </p:spPr>
        <p:txBody>
          <a:bodyPr>
            <a:normAutofit/>
          </a:bodyPr>
          <a:lstStyle/>
          <a:p/>
          <a:p>
            <a:r>
              <a:rPr sz="2000" b="0" i="0">
                <a:solidFill>
                  <a:srgbClr val="646464"/>
                </a:solidFill>
                <a:latin typeface="Calibri"/>
              </a:rPr>
              <a:t>The prediction framework operates across 5 structured stages:</a:t>
            </a:r>
          </a:p>
          <a:p>
            <a:pPr>
              <a:spcAft>
                <a:spcPts val="500"/>
              </a:spcAft>
            </a:pPr>
            <a:r>
              <a:rPr sz="1700" b="1" i="0">
                <a:solidFill>
                  <a:srgbClr val="102C57"/>
                </a:solidFill>
                <a:latin typeface="Calibri"/>
              </a:rPr>
              <a:t>• Stage 1: Data Preprocessing &amp; Tokenization: </a:t>
            </a:r>
            <a:r>
              <a:rPr sz="1700" b="0" i="0">
                <a:solidFill>
                  <a:srgbClr val="323232"/>
                </a:solidFill>
                <a:latin typeface="Calibri"/>
              </a:rPr>
              <a:t>Text normalization, noise &amp; HTML tag cleaning, and WordPiece tokenization with a sequence length of 512 tokens.</a:t>
            </a:r>
          </a:p>
          <a:p>
            <a:pPr>
              <a:spcAft>
                <a:spcPts val="500"/>
              </a:spcAft>
            </a:pPr>
            <a:r>
              <a:rPr sz="1700" b="1" i="0">
                <a:solidFill>
                  <a:srgbClr val="102C57"/>
                </a:solidFill>
                <a:latin typeface="Calibri"/>
              </a:rPr>
              <a:t>• Stage 2: Contextual Representation Extraction: </a:t>
            </a:r>
            <a:r>
              <a:rPr sz="1700" b="0" i="0">
                <a:solidFill>
                  <a:srgbClr val="323232"/>
                </a:solidFill>
                <a:latin typeface="Calibri"/>
              </a:rPr>
              <a:t>Passing token IDs through 12 transformer encoder blocks to generate 768-dimensional bidirectional contextual embeddings.</a:t>
            </a:r>
          </a:p>
          <a:p>
            <a:pPr>
              <a:spcAft>
                <a:spcPts val="500"/>
              </a:spcAft>
            </a:pPr>
            <a:r>
              <a:rPr sz="1700" b="1" i="0">
                <a:solidFill>
                  <a:srgbClr val="102C57"/>
                </a:solidFill>
                <a:latin typeface="Calibri"/>
              </a:rPr>
              <a:t>• Stage 3: Model Fine-Tuning &amp; Optimization: </a:t>
            </a:r>
            <a:r>
              <a:rPr sz="1700" b="0" i="0">
                <a:solidFill>
                  <a:srgbClr val="323232"/>
                </a:solidFill>
                <a:latin typeface="Calibri"/>
              </a:rPr>
              <a:t>Fine-tuning Fraud-BERT end-to-end using the AdamW optimizer with weight decay, linear warmup, and binary cross-entropy loss.</a:t>
            </a:r>
          </a:p>
          <a:p>
            <a:pPr>
              <a:spcAft>
                <a:spcPts val="500"/>
              </a:spcAft>
            </a:pPr>
            <a:r>
              <a:rPr sz="1700" b="1" i="0">
                <a:solidFill>
                  <a:srgbClr val="102C57"/>
                </a:solidFill>
                <a:latin typeface="Calibri"/>
              </a:rPr>
              <a:t>• Stage 4: Prediction &amp; Classification Inference: </a:t>
            </a:r>
            <a:r>
              <a:rPr sz="1700" b="0" i="0">
                <a:solidFill>
                  <a:srgbClr val="323232"/>
                </a:solidFill>
                <a:latin typeface="Calibri"/>
              </a:rPr>
              <a:t>Extracting the [CLS] special token vector and projecting through a dense classification head to output class probabilities (0 = Legitimate, 1 = Fraudulent).</a:t>
            </a:r>
          </a:p>
          <a:p>
            <a:pPr>
              <a:spcAft>
                <a:spcPts val="500"/>
              </a:spcAft>
            </a:pPr>
            <a:r>
              <a:rPr sz="1700" b="1" i="0">
                <a:solidFill>
                  <a:srgbClr val="102C57"/>
                </a:solidFill>
                <a:latin typeface="Calibri"/>
              </a:rPr>
              <a:t>• Stage 5: Multi-Metric Performance Evaluation: </a:t>
            </a:r>
            <a:r>
              <a:rPr sz="1700" b="0" i="0">
                <a:solidFill>
                  <a:srgbClr val="323232"/>
                </a:solidFill>
                <a:latin typeface="Calibri"/>
              </a:rPr>
              <a:t>Comprehensive evaluation using Accuracy, Macro Precision, Macro Recall, Macro F1-Score, and ROC-AUC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085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95942"/>
            <a:ext cx="10515600" cy="970189"/>
          </a:xfrm>
        </p:spPr>
        <p:txBody>
          <a:bodyPr>
            <a:normAutofit/>
          </a:bodyPr>
          <a:lstStyle/>
          <a:p>
            <a:r>
              <a:rPr sz="3600" b="1" i="0">
                <a:solidFill>
                  <a:srgbClr val="102C57"/>
                </a:solidFill>
                <a:latin typeface="Calibri"/>
              </a:rPr>
              <a:t>Dataset Used (EMSCAD)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12F6842-8552-FC78-4FA9-1028AA412F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301121"/>
            <a:ext cx="8032423" cy="54014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/>
          <a:p>
            <a:pPr>
              <a:spcAft>
                <a:spcPts val="800"/>
              </a:spcAft>
            </a:pPr>
            <a:r>
              <a:rPr sz="2000" b="1" i="0">
                <a:solidFill>
                  <a:srgbClr val="102C57"/>
                </a:solidFill>
                <a:latin typeface="Calibri"/>
              </a:rPr>
              <a:t>Benchmark Source: </a:t>
            </a:r>
            <a:r>
              <a:rPr sz="1900" b="0" i="0">
                <a:solidFill>
                  <a:srgbClr val="323232"/>
                </a:solidFill>
                <a:latin typeface="Calibri"/>
              </a:rPr>
              <a:t>Employment Scam Aegean Dataset (EMSCAD) / Kaggle Repository (University of the Aegean)</a:t>
            </a:r>
          </a:p>
          <a:p>
            <a:pPr>
              <a:spcAft>
                <a:spcPts val="400"/>
              </a:spcAft>
            </a:pPr>
            <a:r>
              <a:rPr sz="2000" b="1" i="0">
                <a:solidFill>
                  <a:srgbClr val="102C57"/>
                </a:solidFill>
                <a:latin typeface="Calibri"/>
              </a:rPr>
              <a:t>Dataset Characteristics:</a:t>
            </a:r>
          </a:p>
          <a:p>
            <a:pPr>
              <a:spcAft>
                <a:spcPts val="400"/>
              </a:spcAft>
            </a:pPr>
            <a:r>
              <a:rPr sz="1700" b="0" i="0">
                <a:solidFill>
                  <a:srgbClr val="323232"/>
                </a:solidFill>
                <a:latin typeface="Calibri"/>
              </a:rPr>
              <a:t>• Contains 17,880 real-world job advertisement records collected from 2012 to 2014.</a:t>
            </a:r>
          </a:p>
          <a:p>
            <a:pPr>
              <a:spcAft>
                <a:spcPts val="400"/>
              </a:spcAft>
            </a:pPr>
            <a:r>
              <a:rPr sz="1700" b="0" i="0">
                <a:solidFill>
                  <a:srgbClr val="323232"/>
                </a:solidFill>
                <a:latin typeface="Calibri"/>
              </a:rPr>
              <a:t>• Rich Textual Attributes: Job Title, Company Profile, Description, Requirements, and Benefits.</a:t>
            </a:r>
          </a:p>
          <a:p>
            <a:pPr>
              <a:spcAft>
                <a:spcPts val="400"/>
              </a:spcAft>
            </a:pPr>
            <a:r>
              <a:rPr sz="1700" b="0" i="0">
                <a:solidFill>
                  <a:srgbClr val="323232"/>
                </a:solidFill>
                <a:latin typeface="Calibri"/>
              </a:rPr>
              <a:t>• Categorical &amp; Metadata Features: Telecommuting, Has Company Logo, Has Screening Questions, Employment Type, Required Experience, and Education.</a:t>
            </a:r>
          </a:p>
          <a:p>
            <a:pPr>
              <a:spcAft>
                <a:spcPts val="400"/>
              </a:spcAft>
            </a:pPr>
            <a:r>
              <a:rPr sz="2000" b="1" i="0">
                <a:solidFill>
                  <a:srgbClr val="102C57"/>
                </a:solidFill>
                <a:latin typeface="Calibri"/>
              </a:rPr>
              <a:t>Target Class Distribution (Severe Real-World Imbalance):</a:t>
            </a:r>
          </a:p>
          <a:p>
            <a:pPr>
              <a:spcAft>
                <a:spcPts val="400"/>
              </a:spcAft>
            </a:pPr>
            <a:r>
              <a:rPr sz="1700" b="0" i="0">
                <a:solidFill>
                  <a:srgbClr val="323232"/>
                </a:solidFill>
                <a:latin typeface="Calibri"/>
              </a:rPr>
              <a:t>• Class 0 (Legitimate Postings): 17,014 samples (~ 95.16%)</a:t>
            </a:r>
          </a:p>
          <a:p>
            <a:pPr>
              <a:spcAft>
                <a:spcPts val="400"/>
              </a:spcAft>
            </a:pPr>
            <a:r>
              <a:rPr sz="1700" b="0" i="0">
                <a:solidFill>
                  <a:srgbClr val="323232"/>
                </a:solidFill>
                <a:latin typeface="Calibri"/>
              </a:rPr>
              <a:t>• Class 1 (Fraudulent Postings): 866 samples (~ 4.84%)</a:t>
            </a:r>
          </a:p>
          <a:p>
            <a:pPr>
              <a:spcAft>
                <a:spcPts val="400"/>
              </a:spcAft>
            </a:pPr>
            <a:r>
              <a:rPr sz="1700" b="0" i="0">
                <a:solidFill>
                  <a:srgbClr val="323232"/>
                </a:solidFill>
                <a:latin typeface="Calibri"/>
              </a:rPr>
              <a:t>• Imbalance Challenge: Due to the high class skew, macro-averaged metrics (Macro F1 &amp; ROC-AUC) are mandatory to prevent majority-class bias.</a:t>
            </a:r>
          </a:p>
        </p:txBody>
      </p:sp>
    </p:spTree>
    <p:extLst>
      <p:ext uri="{BB962C8B-B14F-4D97-AF65-F5344CB8AC3E}">
        <p14:creationId xmlns:p14="http://schemas.microsoft.com/office/powerpoint/2010/main" val="2694603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99138"/>
            <a:ext cx="6404429" cy="926645"/>
          </a:xfrm>
        </p:spPr>
        <p:txBody>
          <a:bodyPr>
            <a:normAutofit/>
          </a:bodyPr>
          <a:lstStyle/>
          <a:p>
            <a:r>
              <a:rPr sz="3600" b="1" i="0">
                <a:solidFill>
                  <a:srgbClr val="102C57"/>
                </a:solidFill>
                <a:latin typeface="Calibri"/>
              </a:rPr>
              <a:t>Results &amp; Performance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82057"/>
            <a:ext cx="10515600" cy="4594906"/>
          </a:xfrm>
        </p:spPr>
        <p:txBody>
          <a:bodyPr>
            <a:normAutofit/>
          </a:bodyPr>
          <a:lstStyle/>
          <a:p/>
          <a:p>
            <a:pPr>
              <a:spcAft>
                <a:spcPts val="800"/>
              </a:spcAft>
            </a:pPr>
            <a:r>
              <a:rPr sz="2000" b="1" i="0">
                <a:solidFill>
                  <a:srgbClr val="102C57"/>
                </a:solidFill>
                <a:latin typeface="Calibri"/>
              </a:rPr>
              <a:t>Fraud-BERT achieved state-of-the-art results on the EMSCAD benchmark:</a:t>
            </a:r>
          </a:p>
          <a:p>
            <a:pPr>
              <a:spcAft>
                <a:spcPts val="500"/>
              </a:spcAft>
            </a:pPr>
            <a:r>
              <a:rPr sz="1800" b="1" i="0">
                <a:solidFill>
                  <a:srgbClr val="323232"/>
                </a:solidFill>
                <a:latin typeface="Calibri"/>
              </a:rPr>
              <a:t>• Overall Classification Accuracy: </a:t>
            </a:r>
            <a:r>
              <a:rPr sz="1800" b="1" i="0">
                <a:solidFill>
                  <a:srgbClr val="102C57"/>
                </a:solidFill>
                <a:latin typeface="Calibri"/>
              </a:rPr>
              <a:t>99.0% (0.99) </a:t>
            </a:r>
            <a:r>
              <a:rPr sz="1600" b="0" i="1">
                <a:solidFill>
                  <a:srgbClr val="505050"/>
                </a:solidFill>
                <a:latin typeface="Calibri"/>
              </a:rPr>
              <a:t>(Near-flawless classification across the complete test partition.)</a:t>
            </a:r>
          </a:p>
          <a:p>
            <a:pPr>
              <a:spcAft>
                <a:spcPts val="500"/>
              </a:spcAft>
            </a:pPr>
            <a:r>
              <a:rPr sz="1800" b="1" i="0">
                <a:solidFill>
                  <a:srgbClr val="323232"/>
                </a:solidFill>
                <a:latin typeface="Calibri"/>
              </a:rPr>
              <a:t>• Macro-Averaged Precision: </a:t>
            </a:r>
            <a:r>
              <a:rPr sz="1800" b="1" i="0">
                <a:solidFill>
                  <a:srgbClr val="102C57"/>
                </a:solidFill>
                <a:latin typeface="Calibri"/>
              </a:rPr>
              <a:t>94.0% (0.94) </a:t>
            </a:r>
            <a:r>
              <a:rPr sz="1600" b="0" i="1">
                <a:solidFill>
                  <a:srgbClr val="505050"/>
                </a:solidFill>
                <a:latin typeface="Calibri"/>
              </a:rPr>
              <a:t>(High precision ensures minimal false alarms for legitimate employers.)</a:t>
            </a:r>
          </a:p>
          <a:p>
            <a:pPr>
              <a:spcAft>
                <a:spcPts val="500"/>
              </a:spcAft>
            </a:pPr>
            <a:r>
              <a:rPr sz="1800" b="1" i="0">
                <a:solidFill>
                  <a:srgbClr val="323232"/>
                </a:solidFill>
                <a:latin typeface="Calibri"/>
              </a:rPr>
              <a:t>• Macro-Averaged Recall: </a:t>
            </a:r>
            <a:r>
              <a:rPr sz="1800" b="1" i="0">
                <a:solidFill>
                  <a:srgbClr val="102C57"/>
                </a:solidFill>
                <a:latin typeface="Calibri"/>
              </a:rPr>
              <a:t>92.0% (0.92) </a:t>
            </a:r>
            <a:r>
              <a:rPr sz="1600" b="0" i="1">
                <a:solidFill>
                  <a:srgbClr val="505050"/>
                </a:solidFill>
                <a:latin typeface="Calibri"/>
              </a:rPr>
              <a:t>(Detects over 92% of fraudulent listings despite extreme class sparsity.)</a:t>
            </a:r>
          </a:p>
          <a:p>
            <a:pPr>
              <a:spcAft>
                <a:spcPts val="500"/>
              </a:spcAft>
            </a:pPr>
            <a:r>
              <a:rPr sz="1800" b="1" i="0">
                <a:solidFill>
                  <a:srgbClr val="323232"/>
                </a:solidFill>
                <a:latin typeface="Calibri"/>
              </a:rPr>
              <a:t>• Macro-Averaged F1-Score: </a:t>
            </a:r>
            <a:r>
              <a:rPr sz="1800" b="1" i="0">
                <a:solidFill>
                  <a:srgbClr val="102C57"/>
                </a:solidFill>
                <a:latin typeface="Calibri"/>
              </a:rPr>
              <a:t>93.0% (0.93) </a:t>
            </a:r>
            <a:r>
              <a:rPr sz="1600" b="0" i="1">
                <a:solidFill>
                  <a:srgbClr val="505050"/>
                </a:solidFill>
                <a:latin typeface="Calibri"/>
              </a:rPr>
              <a:t>(Balanced harmonic performance across both majority and minority classes.)</a:t>
            </a:r>
          </a:p>
          <a:p>
            <a:pPr>
              <a:spcAft>
                <a:spcPts val="500"/>
              </a:spcAft>
            </a:pPr>
            <a:r>
              <a:rPr sz="1800" b="1" i="0">
                <a:solidFill>
                  <a:srgbClr val="323232"/>
                </a:solidFill>
                <a:latin typeface="Calibri"/>
              </a:rPr>
              <a:t>• ROC-AUC Score: </a:t>
            </a:r>
            <a:r>
              <a:rPr sz="1800" b="1" i="0">
                <a:solidFill>
                  <a:srgbClr val="102C57"/>
                </a:solidFill>
                <a:latin typeface="Calibri"/>
              </a:rPr>
              <a:t>0.99 </a:t>
            </a:r>
            <a:r>
              <a:rPr sz="1600" b="0" i="1">
                <a:solidFill>
                  <a:srgbClr val="505050"/>
                </a:solidFill>
                <a:latin typeface="Calibri"/>
              </a:rPr>
              <a:t>(Demonstrates exceptional discrimination capability between genuine and fake posts.)</a:t>
            </a:r>
          </a:p>
          <a:p>
            <a:pPr>
              <a:spcBef>
                <a:spcPts val="800"/>
              </a:spcBef>
            </a:pPr>
            <a:r>
              <a:rPr sz="1800" b="1" i="0">
                <a:solidFill>
                  <a:srgbClr val="102C57"/>
                </a:solidFill>
                <a:latin typeface="Calibri"/>
              </a:rPr>
              <a:t>Comparative Conclusion: </a:t>
            </a:r>
            <a:r>
              <a:rPr sz="1700" b="0" i="0">
                <a:solidFill>
                  <a:srgbClr val="323232"/>
                </a:solidFill>
                <a:latin typeface="Calibri"/>
              </a:rPr>
              <a:t>Fraud-BERT decisively outperforms traditional ML models (Logistic Regression F1: 0.86, Random Forest F1: 0.85) and static Bi-LSTM (AUC: 0.88) by capturing deep bidirectional linguistic context across complex recruitment scams.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139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E7A3C-C78E-3208-1872-119F59D69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0677"/>
          </a:xfrm>
        </p:spPr>
        <p:txBody>
          <a:bodyPr>
            <a:normAutofit fontScale="90000"/>
          </a:bodyPr>
          <a:lstStyle/>
          <a:p>
            <a:r>
              <a:rPr sz="3600" b="1" i="0">
                <a:solidFill>
                  <a:srgbClr val="102C57"/>
                </a:solidFill>
                <a:latin typeface="Calibri"/>
              </a:rPr>
              <a:t>References (APA 7th Edition)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A669F-24DE-9251-47BD-73C228B1E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4283"/>
            <a:ext cx="10515600" cy="5138591"/>
          </a:xfrm>
        </p:spPr>
        <p:txBody>
          <a:bodyPr>
            <a:normAutofit/>
          </a:bodyPr>
          <a:lstStyle/>
          <a:p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1" i="0">
                <a:solidFill>
                  <a:srgbClr val="102C57"/>
                </a:solidFill>
                <a:latin typeface="Calibri"/>
              </a:rPr>
              <a:t>1. </a:t>
            </a:r>
            <a:r>
              <a:rPr sz="1400" b="0" i="0">
                <a:solidFill>
                  <a:srgbClr val="323232"/>
                </a:solidFill>
                <a:latin typeface="Calibri"/>
              </a:rPr>
              <a:t>Taneja, K., Vashishtha, J., &amp; Ratnoo, S. (2025). Fraud-BERT: Transformer based context aware online recruitment fraud detection. </a:t>
            </a:r>
            <a:r>
              <a:rPr sz="1400" b="0" i="1">
                <a:solidFill>
                  <a:srgbClr val="323232"/>
                </a:solidFill>
                <a:latin typeface="Calibri"/>
              </a:rPr>
              <a:t>Discover Computing</a:t>
            </a:r>
            <a:r>
              <a:rPr sz="1400" b="0" i="0">
                <a:solidFill>
                  <a:srgbClr val="323232"/>
                </a:solidFill>
                <a:latin typeface="Calibri"/>
              </a:rPr>
              <a:t>, </a:t>
            </a:r>
            <a:r>
              <a:rPr sz="1400" b="0" i="1">
                <a:solidFill>
                  <a:srgbClr val="323232"/>
                </a:solidFill>
                <a:latin typeface="Calibri"/>
              </a:rPr>
              <a:t>28</a:t>
            </a:r>
            <a:r>
              <a:rPr sz="1400" b="0" i="0">
                <a:solidFill>
                  <a:srgbClr val="323232"/>
                </a:solidFill>
                <a:latin typeface="Calibri"/>
              </a:rPr>
              <a:t>(9), 1–16.</a:t>
            </a:r>
            <a:r>
              <a:rPr sz="1300" b="0" i="0">
                <a:solidFill>
                  <a:srgbClr val="0066CC"/>
                </a:solidFill>
                <a:latin typeface="Calibri"/>
              </a:rPr>
              <a:t> https://doi.org/10.1007/s44425-025-00109-x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1" i="0">
                <a:solidFill>
                  <a:srgbClr val="102C57"/>
                </a:solidFill>
                <a:latin typeface="Calibri"/>
              </a:rPr>
              <a:t>2. </a:t>
            </a:r>
            <a:r>
              <a:rPr sz="1400" b="0" i="0">
                <a:solidFill>
                  <a:srgbClr val="323232"/>
                </a:solidFill>
                <a:latin typeface="Calibri"/>
              </a:rPr>
              <a:t>Pillai, A. S. (2023). Detecting fake job postings using bidirectional LSTM. </a:t>
            </a:r>
            <a:r>
              <a:rPr sz="1400" b="0" i="1">
                <a:solidFill>
                  <a:srgbClr val="323232"/>
                </a:solidFill>
                <a:latin typeface="Calibri"/>
              </a:rPr>
              <a:t>International Research Journal of Modernization in Engineering Technology and Science</a:t>
            </a:r>
            <a:r>
              <a:rPr sz="1400" b="0" i="0">
                <a:solidFill>
                  <a:srgbClr val="323232"/>
                </a:solidFill>
                <a:latin typeface="Calibri"/>
              </a:rPr>
              <a:t>, </a:t>
            </a:r>
            <a:r>
              <a:rPr sz="1400" b="0" i="1">
                <a:solidFill>
                  <a:srgbClr val="323232"/>
                </a:solidFill>
                <a:latin typeface="Calibri"/>
              </a:rPr>
              <a:t>5</a:t>
            </a:r>
            <a:r>
              <a:rPr sz="1400" b="0" i="0">
                <a:solidFill>
                  <a:srgbClr val="323232"/>
                </a:solidFill>
                <a:latin typeface="Calibri"/>
              </a:rPr>
              <a:t>(3), 3883–3890.</a:t>
            </a:r>
            <a:r>
              <a:rPr sz="1300" b="0" i="0">
                <a:solidFill>
                  <a:srgbClr val="0066CC"/>
                </a:solidFill>
                <a:latin typeface="Calibri"/>
              </a:rPr>
              <a:t> https://doi.org/10.56726/IRJMETS34628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1" i="0">
                <a:solidFill>
                  <a:srgbClr val="102C57"/>
                </a:solidFill>
                <a:latin typeface="Calibri"/>
              </a:rPr>
              <a:t>3. </a:t>
            </a:r>
            <a:r>
              <a:rPr sz="1400" b="0" i="0">
                <a:solidFill>
                  <a:srgbClr val="323232"/>
                </a:solidFill>
                <a:latin typeface="Calibri"/>
              </a:rPr>
              <a:t>Naudé, M., Adebayo, K. J., &amp; Nanda, R. (2023). A machine learning approach to detecting fraudulent job types. </a:t>
            </a:r>
            <a:r>
              <a:rPr sz="1400" b="0" i="1">
                <a:solidFill>
                  <a:srgbClr val="323232"/>
                </a:solidFill>
                <a:latin typeface="Calibri"/>
              </a:rPr>
              <a:t>AI &amp; SOCIETY</a:t>
            </a:r>
            <a:r>
              <a:rPr sz="1400" b="0" i="0">
                <a:solidFill>
                  <a:srgbClr val="323232"/>
                </a:solidFill>
                <a:latin typeface="Calibri"/>
              </a:rPr>
              <a:t>, </a:t>
            </a:r>
            <a:r>
              <a:rPr sz="1400" b="0" i="1">
                <a:solidFill>
                  <a:srgbClr val="323232"/>
                </a:solidFill>
                <a:latin typeface="Calibri"/>
              </a:rPr>
              <a:t>38</a:t>
            </a:r>
            <a:r>
              <a:rPr sz="1400" b="0" i="0">
                <a:solidFill>
                  <a:srgbClr val="323232"/>
                </a:solidFill>
                <a:latin typeface="Calibri"/>
              </a:rPr>
              <a:t>(3), 1013–1024.</a:t>
            </a:r>
            <a:r>
              <a:rPr sz="1300" b="0" i="0">
                <a:solidFill>
                  <a:srgbClr val="0066CC"/>
                </a:solidFill>
                <a:latin typeface="Calibri"/>
              </a:rPr>
              <a:t> https://doi.org/10.1007/s00146-021-01314-z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1" i="0">
                <a:solidFill>
                  <a:srgbClr val="102C57"/>
                </a:solidFill>
                <a:latin typeface="Calibri"/>
              </a:rPr>
              <a:t>4. </a:t>
            </a:r>
            <a:r>
              <a:rPr sz="1400" b="0" i="0">
                <a:solidFill>
                  <a:srgbClr val="323232"/>
                </a:solidFill>
                <a:latin typeface="Calibri"/>
              </a:rPr>
              <a:t>Chiraratanasopha, B., &amp; Chay-intr, T. (2022). Detecting fraud job recruitment using features reflecting from real-world knowledge of fraud. </a:t>
            </a:r>
            <a:r>
              <a:rPr sz="1400" b="0" i="1">
                <a:solidFill>
                  <a:srgbClr val="323232"/>
                </a:solidFill>
                <a:latin typeface="Calibri"/>
              </a:rPr>
              <a:t>Current Applied Science and Technology</a:t>
            </a:r>
            <a:r>
              <a:rPr sz="1400" b="0" i="0">
                <a:solidFill>
                  <a:srgbClr val="323232"/>
                </a:solidFill>
                <a:latin typeface="Calibri"/>
              </a:rPr>
              <a:t>, </a:t>
            </a:r>
            <a:r>
              <a:rPr sz="1400" b="0" i="1">
                <a:solidFill>
                  <a:srgbClr val="323232"/>
                </a:solidFill>
                <a:latin typeface="Calibri"/>
              </a:rPr>
              <a:t>22</a:t>
            </a:r>
            <a:r>
              <a:rPr sz="1400" b="0" i="0">
                <a:solidFill>
                  <a:srgbClr val="323232"/>
                </a:solidFill>
                <a:latin typeface="Calibri"/>
              </a:rPr>
              <a:t>(6), 1–12.</a:t>
            </a:r>
            <a:r>
              <a:rPr sz="1300" b="0" i="0">
                <a:solidFill>
                  <a:srgbClr val="0066CC"/>
                </a:solidFill>
                <a:latin typeface="Calibri"/>
              </a:rPr>
              <a:t> https://doi.org/10.55003/cast.2022.06.22.015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1" i="0">
                <a:solidFill>
                  <a:srgbClr val="102C57"/>
                </a:solidFill>
                <a:latin typeface="Calibri"/>
              </a:rPr>
              <a:t>5. </a:t>
            </a:r>
            <a:r>
              <a:rPr sz="1400" b="0" i="0">
                <a:solidFill>
                  <a:srgbClr val="323232"/>
                </a:solidFill>
                <a:latin typeface="Calibri"/>
              </a:rPr>
              <a:t>Varshitha, G., Sowmya, K., Sheshma, K., Sowmya, K., &amp; Manikandan, R. A. (2026). Online recruitment fraud detection using deep learning approaches. </a:t>
            </a:r>
            <a:r>
              <a:rPr sz="1400" b="0" i="1">
                <a:solidFill>
                  <a:srgbClr val="323232"/>
                </a:solidFill>
                <a:latin typeface="Calibri"/>
              </a:rPr>
              <a:t>International Journal for Multidisciplinary Research (IJFMR)</a:t>
            </a:r>
            <a:r>
              <a:rPr sz="1400" b="0" i="0">
                <a:solidFill>
                  <a:srgbClr val="323232"/>
                </a:solidFill>
                <a:latin typeface="Calibri"/>
              </a:rPr>
              <a:t>, </a:t>
            </a:r>
            <a:r>
              <a:rPr sz="1400" b="0" i="1">
                <a:solidFill>
                  <a:srgbClr val="323232"/>
                </a:solidFill>
                <a:latin typeface="Calibri"/>
              </a:rPr>
              <a:t>8</a:t>
            </a:r>
            <a:r>
              <a:rPr sz="1400" b="0" i="0">
                <a:solidFill>
                  <a:srgbClr val="323232"/>
                </a:solidFill>
                <a:latin typeface="Calibri"/>
              </a:rPr>
              <a:t>(2), 1–9.</a:t>
            </a:r>
            <a:r>
              <a:rPr sz="1300" b="0" i="0">
                <a:solidFill>
                  <a:srgbClr val="0066CC"/>
                </a:solidFill>
                <a:latin typeface="Calibri"/>
              </a:rPr>
              <a:t> https://doi.org/10.36948/ijfmr.2026.v08i02.14582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4A35CC-DD65-AB1D-D9C1-30BD38C24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6818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1686" cy="45719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buNone/>
            </a:pP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2864077"/>
            <a:ext cx="12191999" cy="1129845"/>
          </a:xfrm>
        </p:spPr>
        <p:txBody>
          <a:bodyPr>
            <a:normAutofit/>
          </a:bodyPr>
          <a:lstStyle/>
          <a:p>
            <a:pPr algn="ctr"/>
            <a:r>
              <a:rPr sz="6000" b="1" i="0">
                <a:solidFill>
                  <a:srgbClr val="102C57"/>
                </a:solidFill>
                <a:latin typeface="Times New Roman"/>
              </a:rPr>
              <a:t>Thank You 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1580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8120</TotalTime>
  <Words>763</Words>
  <Application>Microsoft Office PowerPoint</Application>
  <PresentationFormat>Widescreen</PresentationFormat>
  <Paragraphs>106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Calibri</vt:lpstr>
      <vt:lpstr>Calibri Light</vt:lpstr>
      <vt:lpstr>Casper</vt:lpstr>
      <vt:lpstr>Courier New</vt:lpstr>
      <vt:lpstr>Times New Roman</vt:lpstr>
      <vt:lpstr>1_Office Theme</vt:lpstr>
      <vt:lpstr>2_Office Theme</vt:lpstr>
      <vt:lpstr>Contents Slide Master</vt:lpstr>
      <vt:lpstr>PowerPoint Presentation</vt:lpstr>
      <vt:lpstr>Content</vt:lpstr>
      <vt:lpstr>Related Five-Research  Paper</vt:lpstr>
      <vt:lpstr>A Classification and Regression Tree Algorithm for Heart Disease Modeling and Prediction DOI:10.1016/j.health.2022.100130 </vt:lpstr>
      <vt:lpstr>Machine Learning Methods Used</vt:lpstr>
      <vt:lpstr>Proposed Prediction Model</vt:lpstr>
      <vt:lpstr>Dataset Used</vt:lpstr>
      <vt:lpstr>Results</vt:lpstr>
      <vt:lpstr>References</vt:lpstr>
      <vt:lpstr>Thank You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Akhilesh Yadav</cp:lastModifiedBy>
  <cp:revision>697</cp:revision>
  <dcterms:created xsi:type="dcterms:W3CDTF">2019-01-09T10:33:58Z</dcterms:created>
  <dcterms:modified xsi:type="dcterms:W3CDTF">2026-04-28T10:41:46Z</dcterms:modified>
</cp:coreProperties>
</file>