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73" r:id="rId3"/>
    <p:sldId id="274" r:id="rId4"/>
    <p:sldId id="261" r:id="rId5"/>
    <p:sldId id="262" r:id="rId6"/>
    <p:sldId id="275" r:id="rId14"/>
    <p:sldId id="276" r:id="rId15"/>
    <p:sldId id="277" r:id="rId16"/>
    <p:sldId id="278" r:id="rId17"/>
    <p:sldId id="269" r:id="rId7"/>
    <p:sldId id="279" r:id="rId18"/>
    <p:sldId id="270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8C4B4A-C268-43AA-98EC-8445F1A1C517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EAF5F5-63B2-4552-B78C-BC2A42132EE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Department Name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Scholar Name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Slide Number</a:t>
            </a:r>
            <a:fld id="{0FD9B02D-30DA-4306-A281-F3D99E0F94F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Department Name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Scholar Name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9B02D-30DA-4306-A281-F3D99E0F94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Department Name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Scholar Name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9B02D-30DA-4306-A281-F3D99E0F94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Department Name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Scholar Name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9B02D-30DA-4306-A281-F3D99E0F94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Department Name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Scholar Name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9B02D-30DA-4306-A281-F3D99E0F94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Department Name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Scholar Name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9B02D-30DA-4306-A281-F3D99E0F94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Department Name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Scholar Name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9B02D-30DA-4306-A281-F3D99E0F94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Department Name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Scholar Name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9B02D-30DA-4306-A281-F3D99E0F94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Department Name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Scholar Name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9B02D-30DA-4306-A281-F3D99E0F94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Department Name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Scholar Name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9B02D-30DA-4306-A281-F3D99E0F94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Department Name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Scholar Name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9B02D-30DA-4306-A281-F3D99E0F94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Department Name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Scholar Name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Author Name</a:t>
            </a:r>
            <a:fld id="{0FD9B02D-30DA-4306-A281-F3D99E0F94F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76200" y="86360"/>
            <a:ext cx="762000" cy="1209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0"/>
            <a:ext cx="7772400" cy="1470025"/>
          </a:xfrm>
        </p:spPr>
        <p:txBody>
          <a:bodyPr>
            <a:normAutofit/>
          </a:bodyPr>
          <a:lstStyle/>
          <a:p>
            <a:pPr algn="ctr"/>
            <a:r>
              <a:rPr sz="2400">
                <a:solidFill>
                  <a:srgbClr val="102C57"/>
                </a:solidFill>
                <a:latin typeface="Times New Roman"/>
              </a:rPr>
              <a:t>An Explainable and Sequence-Preserving BERT-BiLSTM Framework for Online Recruitment Fraud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6400" y="2743200"/>
            <a:ext cx="6400800" cy="1143000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sz="1600">
                <a:solidFill>
                  <a:srgbClr val="505050"/>
                </a:solidFill>
                <a:latin typeface="Calibri"/>
              </a:rPr>
              <a:t>Presented by:</a:t>
            </a:r>
          </a:p>
          <a:p>
            <a:pPr algn="ctr"/>
            <a:r>
              <a:rPr sz="1600">
                <a:solidFill>
                  <a:srgbClr val="505050"/>
                </a:solidFill>
                <a:latin typeface="Calibri"/>
              </a:rPr>
              <a:t>Akhilesh</a:t>
            </a:r>
          </a:p>
          <a:p>
            <a:pPr algn="ctr"/>
            <a:r>
              <a:rPr sz="1600">
                <a:solidFill>
                  <a:srgbClr val="505050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Student Name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28600" y="4419600"/>
            <a:ext cx="2819400" cy="114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sz="1400">
                <a:solidFill>
                  <a:srgbClr val="505050"/>
                </a:solidFill>
                <a:latin typeface="Calibri"/>
              </a:rPr>
              <a:t>UID: [Your UID]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6324600" y="4343400"/>
            <a:ext cx="2819400" cy="114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sz="1400">
                <a:solidFill>
                  <a:srgbClr val="505050"/>
                </a:solidFill>
                <a:latin typeface="Calibri"/>
              </a:rPr>
              <a:t>Supervisor(s): [Your Supervisor Name]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200">
                <a:solidFill>
                  <a:srgbClr val="646464"/>
                </a:solidFill>
                <a:latin typeface="Calibri"/>
              </a:rPr>
              <a:t>M.Sc. (Data Science)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200">
                <a:solidFill>
                  <a:srgbClr val="646464"/>
                </a:solidFill>
                <a:latin typeface="Calibri"/>
              </a:rPr>
              <a:t>Page 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>
                <a:solidFill>
                  <a:srgbClr val="102C57"/>
                </a:solidFill>
                <a:latin typeface="Calibri"/>
              </a:rP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>
              <a:spcAft>
                <a:spcPts val="600"/>
              </a:spcAft>
            </a:pPr>
            <a:r>
              <a:rPr sz="1800">
                <a:solidFill>
                  <a:srgbClr val="323232"/>
                </a:solidFill>
                <a:latin typeface="Calibri"/>
              </a:rPr>
              <a:t>Introduction &amp; Research Motivation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23232"/>
                </a:solidFill>
                <a:latin typeface="Calibri"/>
              </a:rPr>
              <a:t>Literature Review (State-of-the-Art Benchmarks)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23232"/>
                </a:solidFill>
                <a:latin typeface="Calibri"/>
              </a:rPr>
              <a:t>Proposed Hybrid BERT-BiLSTM Methodology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23232"/>
                </a:solidFill>
                <a:latin typeface="Calibri"/>
              </a:rPr>
              <a:t>Explainable AI (SHAP) and Robust Preprocessing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23232"/>
                </a:solidFill>
                <a:latin typeface="Calibri"/>
              </a:rPr>
              <a:t>Experimental Setup &amp; Dataset Details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23232"/>
                </a:solidFill>
                <a:latin typeface="Calibri"/>
              </a:rPr>
              <a:t>Comparative Results &amp; Significance Analysis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23232"/>
                </a:solidFill>
                <a:latin typeface="Calibri"/>
              </a:rPr>
              <a:t>Conclusion &amp; Future Work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23232"/>
                </a:solidFill>
                <a:latin typeface="Calibri"/>
              </a:rPr>
              <a:t>Bibliography or References (APA Format)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sz="1000">
                <a:solidFill>
                  <a:srgbClr val="646464"/>
                </a:solidFill>
                <a:latin typeface="Calibri"/>
              </a:rPr>
              <a:t>Akhilesh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r>
              <a:rPr sz="1000">
                <a:solidFill>
                  <a:srgbClr val="646464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sz="1000">
                <a:solidFill>
                  <a:srgbClr val="646464"/>
                </a:solidFill>
                <a:latin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69053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>
                <a:solidFill>
                  <a:srgbClr val="102C57"/>
                </a:solidFill>
                <a:latin typeface="Calibri"/>
              </a:rPr>
              <a:t>Introduction &amp; Research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>
              <a:spcAft>
                <a:spcPts val="600"/>
              </a:spcAft>
            </a:pPr>
            <a:r>
              <a:rPr sz="1800">
                <a:solidFill>
                  <a:srgbClr val="323232"/>
                </a:solidFill>
                <a:latin typeface="Calibri"/>
              </a:rPr>
              <a:t>Online Recruitment Fraud (ORF): Fake job ads on portals like LinkedIn/Indeed aim to steal personal identification details or extort visa/training fees.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23232"/>
                </a:solidFill>
                <a:latin typeface="Calibri"/>
              </a:rPr>
              <a:t>Traditional ML Limitations: Logistic Regression and Random Forests rely on TF-IDF vectors, ignoring sentence structure, syntax, and word context.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23232"/>
                </a:solidFill>
                <a:latin typeface="Calibri"/>
              </a:rPr>
              <a:t>Deep Learning Limitations: LSTMs and GRUs capture temporal sequences but use static word embeddings (Word2Vec), failing on polysemous terms.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23232"/>
                </a:solidFill>
                <a:latin typeface="Calibri"/>
              </a:rPr>
              <a:t>Transformer Limitations: Standard fine-tuned BERT models discard sequential syntax by classifying solely on the single [CLS] token representation.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23232"/>
                </a:solidFill>
                <a:latin typeface="Calibri"/>
              </a:rPr>
              <a:t>Black-Box Decision Making: Neural network classifiers do not explain why a post was flagged, creating trust issues for platform moderators.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23232"/>
                </a:solidFill>
                <a:latin typeface="Calibri"/>
              </a:rPr>
              <a:t>Proposed Solution: A sequence-preserving BERT-BiLSTM framework fine-tuned on imbalanced EMSCAD text data with SHAP token-level visual explainability.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sz="1000">
                <a:solidFill>
                  <a:srgbClr val="646464"/>
                </a:solidFill>
                <a:latin typeface="Calibri"/>
              </a:rPr>
              <a:t>Akhilesh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r>
              <a:rPr sz="1000">
                <a:solidFill>
                  <a:srgbClr val="646464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sz="1000">
                <a:solidFill>
                  <a:srgbClr val="646464"/>
                </a:solidFill>
                <a:latin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45642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>
                <a:solidFill>
                  <a:srgbClr val="102C57"/>
                </a:solidFill>
                <a:latin typeface="Calibri"/>
              </a:rPr>
              <a:t>Literature Review - Benchmarks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sz="1000">
                <a:solidFill>
                  <a:srgbClr val="646464"/>
                </a:solidFill>
                <a:latin typeface="Calibri"/>
              </a:rPr>
              <a:t>Akhilesh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r>
              <a:rPr sz="1000">
                <a:solidFill>
                  <a:srgbClr val="646464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sz="1000">
                <a:solidFill>
                  <a:srgbClr val="646464"/>
                </a:solidFill>
                <a:latin typeface="Calibri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2000" y="2057400"/>
          <a:ext cx="7848599" cy="37084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828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1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88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Author &amp; Year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Findings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Journal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Taneja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Developed Fraud-BERT; reported macro F1-score of 0.93 and accuracy of 99%. Shows importance of transformers.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Discover Computing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Pillai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Proposed Bi-LSTM model on static embeddings. Achieved 98.71% accuracy but suffered from static word vectors.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IRJMETS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Naude et al.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Utilized Gradient Boosting with POS tags and custom rule-sets. Obtained F1-score of 0.88 on fraud types.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AI &amp; Society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Chiraratanasopha (2022)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Integrated domain knowledge features (missing logo, salary exaggeration). Achieved 97.64% RF accuracy.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CAST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Salloum et al.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Benchmarked LR and DT. High variance in evaluation due to severe class imbalance on EMSCAD.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JMLR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Sanisetty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Combined BERT contextual embeddings with sentiment analysis to identify deceptive job descriptions.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ICDCECE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Srilakshmi et al. 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Designed hybrid model combining BERT, RoBERTa, SMOBD, and 2D CNN for fraud detection.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Procedia 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Alghamdi et al. (2019)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Investigated Gated Recurrent Units (GRU) for ORF. Found GRU has fewer parameters than standard LSTMs.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IEEE Access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Habib et al. (2021)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Developed ensemble voting classifier combining RF and Naive Bayes for high stability.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IEEE DASA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>
                <a:solidFill>
                  <a:srgbClr val="102C57"/>
                </a:solidFill>
                <a:latin typeface="Calibri"/>
              </a:rPr>
              <a:t>Literature Review - Benchmarks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sz="1000">
                <a:solidFill>
                  <a:srgbClr val="646464"/>
                </a:solidFill>
                <a:latin typeface="Calibri"/>
              </a:rPr>
              <a:t>Akhilesh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r>
              <a:rPr sz="1000">
                <a:solidFill>
                  <a:srgbClr val="646464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sz="1000">
                <a:solidFill>
                  <a:srgbClr val="646464"/>
                </a:solidFill>
                <a:latin typeface="Calibri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2000" y="2057400"/>
          <a:ext cx="7848599" cy="37084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828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1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88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Author &amp; Year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Findings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Journal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Kumar &amp; Garg (2022)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Used Word2Vec static embeddings with ensemble classifiers. Fails on context polysemy.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IEEE Trans. CSS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Vidros et al. (2017)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Conducted systematic review of ORF and established classification guidelines for deep learning.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IEEE S&amp;P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Roy et al. (2020)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Benchmarked traditional ML models; noted SVM is effective on small vocabulary sizes.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IEEE ICESC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Gupta &amp; Rani (2021)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Emphasized that bidirectional self-attention is critical to capturing job post vocabulary shifts.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IEEE ICCCA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Liao &amp; Wang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Proposed hybrid deep learning model extracting text features via pre-trained transformers.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IEEE ICISCAE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Varshitha et al. 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Explored deep learning approaches (CNN, LSTM) for fake job detection, noting feature sparsity challenges.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IJFMR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>
                <a:solidFill>
                  <a:srgbClr val="102C57"/>
                </a:solidFill>
                <a:latin typeface="Calibri"/>
              </a:rPr>
              <a:t>Bibliography or References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102C57"/>
                </a:solidFill>
                <a:latin typeface="Calibri"/>
              </a:rPr>
              <a:t>[1] </a:t>
            </a:r>
            <a:r>
              <a:rPr sz="1000">
                <a:solidFill>
                  <a:srgbClr val="323232"/>
                </a:solidFill>
                <a:latin typeface="Calibri"/>
              </a:rPr>
              <a:t>Taneja, K., Vashishtha, J., &amp; Ratnoo, S. (2025). Fraud-BERT: Transformer based context aware online recruitment fraud detection. </a:t>
            </a:r>
            <a:r>
              <a:rPr sz="1000">
                <a:solidFill>
                  <a:srgbClr val="323232"/>
                </a:solidFill>
                <a:latin typeface="Calibri"/>
              </a:rPr>
              <a:t>Discover Computing</a:t>
            </a:r>
            <a:r>
              <a:rPr sz="1000">
                <a:solidFill>
                  <a:srgbClr val="323232"/>
                </a:solidFill>
                <a:latin typeface="Calibri"/>
              </a:rPr>
              <a:t>, </a:t>
            </a:r>
            <a:r>
              <a:rPr sz="1000">
                <a:solidFill>
                  <a:srgbClr val="323232"/>
                </a:solidFill>
                <a:latin typeface="Calibri"/>
              </a:rPr>
              <a:t>28</a:t>
            </a:r>
            <a:r>
              <a:rPr sz="1000">
                <a:solidFill>
                  <a:srgbClr val="323232"/>
                </a:solidFill>
                <a:latin typeface="Calibri"/>
              </a:rPr>
              <a:t>(9), 1–16.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102C57"/>
                </a:solidFill>
                <a:latin typeface="Calibri"/>
              </a:rPr>
              <a:t>[2] </a:t>
            </a:r>
            <a:r>
              <a:rPr sz="1000">
                <a:solidFill>
                  <a:srgbClr val="323232"/>
                </a:solidFill>
                <a:latin typeface="Calibri"/>
              </a:rPr>
              <a:t>Pillai, A. S. (2023). Detecting fake job postings using bidirectional LSTM. </a:t>
            </a:r>
            <a:r>
              <a:rPr sz="1000">
                <a:solidFill>
                  <a:srgbClr val="323232"/>
                </a:solidFill>
                <a:latin typeface="Calibri"/>
              </a:rPr>
              <a:t>International Research Journal of Modernization in Engineering Technology and Science</a:t>
            </a:r>
            <a:r>
              <a:rPr sz="1000">
                <a:solidFill>
                  <a:srgbClr val="323232"/>
                </a:solidFill>
                <a:latin typeface="Calibri"/>
              </a:rPr>
              <a:t>, </a:t>
            </a:r>
            <a:r>
              <a:rPr sz="1000">
                <a:solidFill>
                  <a:srgbClr val="323232"/>
                </a:solidFill>
                <a:latin typeface="Calibri"/>
              </a:rPr>
              <a:t>5</a:t>
            </a:r>
            <a:r>
              <a:rPr sz="1000">
                <a:solidFill>
                  <a:srgbClr val="323232"/>
                </a:solidFill>
                <a:latin typeface="Calibri"/>
              </a:rPr>
              <a:t>(3), 3883–3890.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102C57"/>
                </a:solidFill>
                <a:latin typeface="Calibri"/>
              </a:rPr>
              <a:t>[3] </a:t>
            </a:r>
            <a:r>
              <a:rPr sz="1000">
                <a:solidFill>
                  <a:srgbClr val="323232"/>
                </a:solidFill>
                <a:latin typeface="Calibri"/>
              </a:rPr>
              <a:t>Naudé, M., Adebayo, K. J., &amp; Nanda, R. (2023). A machine learning approach to detecting fraudulent job types. </a:t>
            </a:r>
            <a:r>
              <a:rPr sz="1000">
                <a:solidFill>
                  <a:srgbClr val="323232"/>
                </a:solidFill>
                <a:latin typeface="Calibri"/>
              </a:rPr>
              <a:t>AI &amp; SOCIETY</a:t>
            </a:r>
            <a:r>
              <a:rPr sz="1000">
                <a:solidFill>
                  <a:srgbClr val="323232"/>
                </a:solidFill>
                <a:latin typeface="Calibri"/>
              </a:rPr>
              <a:t>, </a:t>
            </a:r>
            <a:r>
              <a:rPr sz="1000">
                <a:solidFill>
                  <a:srgbClr val="323232"/>
                </a:solidFill>
                <a:latin typeface="Calibri"/>
              </a:rPr>
              <a:t>38</a:t>
            </a:r>
            <a:r>
              <a:rPr sz="1000">
                <a:solidFill>
                  <a:srgbClr val="323232"/>
                </a:solidFill>
                <a:latin typeface="Calibri"/>
              </a:rPr>
              <a:t>(3), 1013–1024.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102C57"/>
                </a:solidFill>
                <a:latin typeface="Calibri"/>
              </a:rPr>
              <a:t>[4] </a:t>
            </a:r>
            <a:r>
              <a:rPr sz="1000">
                <a:solidFill>
                  <a:srgbClr val="323232"/>
                </a:solidFill>
                <a:latin typeface="Calibri"/>
              </a:rPr>
              <a:t>Chiraratanasopha, B., &amp; Chay-intr, T. (2022). Detecting fraud job recruitment using features reflecting from real-world knowledge of fraud. </a:t>
            </a:r>
            <a:r>
              <a:rPr sz="1000">
                <a:solidFill>
                  <a:srgbClr val="323232"/>
                </a:solidFill>
                <a:latin typeface="Calibri"/>
              </a:rPr>
              <a:t>Current Applied Science and Technology</a:t>
            </a:r>
            <a:r>
              <a:rPr sz="1000">
                <a:solidFill>
                  <a:srgbClr val="323232"/>
                </a:solidFill>
                <a:latin typeface="Calibri"/>
              </a:rPr>
              <a:t>, </a:t>
            </a:r>
            <a:r>
              <a:rPr sz="1000">
                <a:solidFill>
                  <a:srgbClr val="323232"/>
                </a:solidFill>
                <a:latin typeface="Calibri"/>
              </a:rPr>
              <a:t>22</a:t>
            </a:r>
            <a:r>
              <a:rPr sz="1000">
                <a:solidFill>
                  <a:srgbClr val="323232"/>
                </a:solidFill>
                <a:latin typeface="Calibri"/>
              </a:rPr>
              <a:t>(6), 1–12.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102C57"/>
                </a:solidFill>
                <a:latin typeface="Calibri"/>
              </a:rPr>
              <a:t>[5] </a:t>
            </a:r>
            <a:r>
              <a:rPr sz="1000">
                <a:solidFill>
                  <a:srgbClr val="323232"/>
                </a:solidFill>
                <a:latin typeface="Calibri"/>
              </a:rPr>
              <a:t>Salloum, S., Tahat, K., Alfaisal, R., Mansoori, A., &amp; Tahat, D. (2024). Analysis of fraudulent job postings using machine learning. </a:t>
            </a:r>
            <a:r>
              <a:rPr sz="1000">
                <a:solidFill>
                  <a:srgbClr val="323232"/>
                </a:solidFill>
                <a:latin typeface="Calibri"/>
              </a:rPr>
              <a:t>Journal of Machine Learning Research</a:t>
            </a:r>
            <a:r>
              <a:rPr sz="1000">
                <a:solidFill>
                  <a:srgbClr val="323232"/>
                </a:solidFill>
                <a:latin typeface="Calibri"/>
              </a:rPr>
              <a:t>, </a:t>
            </a:r>
            <a:r>
              <a:rPr sz="1000">
                <a:solidFill>
                  <a:srgbClr val="323232"/>
                </a:solidFill>
                <a:latin typeface="Calibri"/>
              </a:rPr>
              <a:t>5</a:t>
            </a:r>
            <a:r>
              <a:rPr sz="1000">
                <a:solidFill>
                  <a:srgbClr val="323232"/>
                </a:solidFill>
                <a:latin typeface="Calibri"/>
              </a:rPr>
              <a:t>, 1–15.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102C57"/>
                </a:solidFill>
                <a:latin typeface="Calibri"/>
              </a:rPr>
              <a:t>[6] </a:t>
            </a:r>
            <a:r>
              <a:rPr sz="1000">
                <a:solidFill>
                  <a:srgbClr val="323232"/>
                </a:solidFill>
                <a:latin typeface="Calibri"/>
              </a:rPr>
              <a:t>Sanisetty, S. S. S., S, G. N., Kotamaraja, S. V., Reddy, B. N., Vekkot, S., &amp; V, B. (2025). Comprehensive approach to fraudulent job post detection using machine learning and BERT models. In </a:t>
            </a:r>
            <a:r>
              <a:rPr sz="1000">
                <a:solidFill>
                  <a:srgbClr val="323232"/>
                </a:solidFill>
                <a:latin typeface="Calibri"/>
              </a:rPr>
              <a:t>2025 4th International Conference on Distributed Computing and Electrical Circuits and Electronics (ICDCECE)</a:t>
            </a:r>
            <a:r>
              <a:rPr sz="1000">
                <a:solidFill>
                  <a:srgbClr val="323232"/>
                </a:solidFill>
                <a:latin typeface="Calibri"/>
              </a:rPr>
              <a:t> (pp. 1–6). IEEE.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102C57"/>
                </a:solidFill>
                <a:latin typeface="Calibri"/>
              </a:rPr>
              <a:t>[7] </a:t>
            </a:r>
            <a:r>
              <a:rPr sz="1000">
                <a:solidFill>
                  <a:srgbClr val="323232"/>
                </a:solidFill>
                <a:latin typeface="Calibri"/>
              </a:rPr>
              <a:t>Srilakshmi, V., Arukonda, S., &amp; Chetana, V. L. (2026). A transformer-based framework for online recruitment fraud detection using BERT, RoBERTa, SMOBD, and 2D CNN. </a:t>
            </a:r>
            <a:r>
              <a:rPr sz="1000">
                <a:solidFill>
                  <a:srgbClr val="323232"/>
                </a:solidFill>
                <a:latin typeface="Calibri"/>
              </a:rPr>
              <a:t>Procedia Computer Science</a:t>
            </a:r>
            <a:r>
              <a:rPr sz="1000">
                <a:solidFill>
                  <a:srgbClr val="323232"/>
                </a:solidFill>
                <a:latin typeface="Calibri"/>
              </a:rPr>
              <a:t>, </a:t>
            </a:r>
            <a:r>
              <a:rPr sz="1000">
                <a:solidFill>
                  <a:srgbClr val="323232"/>
                </a:solidFill>
                <a:latin typeface="Calibri"/>
              </a:rPr>
              <a:t>283</a:t>
            </a:r>
            <a:r>
              <a:rPr sz="1000">
                <a:solidFill>
                  <a:srgbClr val="323232"/>
                </a:solidFill>
                <a:latin typeface="Calibri"/>
              </a:rPr>
              <a:t>, 1145–1153.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102C57"/>
                </a:solidFill>
                <a:latin typeface="Calibri"/>
              </a:rPr>
              <a:t>[8] </a:t>
            </a:r>
            <a:r>
              <a:rPr sz="1000">
                <a:solidFill>
                  <a:srgbClr val="323232"/>
                </a:solidFill>
                <a:latin typeface="Calibri"/>
              </a:rPr>
              <a:t>Varshitha, G., Sowmya, K., Sheshma, K., Sowmya, K., &amp; Manikandan, R. A. (2026). Online recruitment fraud detection using deep learning approaches. </a:t>
            </a:r>
            <a:r>
              <a:rPr sz="1000">
                <a:solidFill>
                  <a:srgbClr val="323232"/>
                </a:solidFill>
                <a:latin typeface="Calibri"/>
              </a:rPr>
              <a:t>International Journal for Multidisciplinary Research (IJFMR)</a:t>
            </a:r>
            <a:r>
              <a:rPr sz="1000">
                <a:solidFill>
                  <a:srgbClr val="323232"/>
                </a:solidFill>
                <a:latin typeface="Calibri"/>
              </a:rPr>
              <a:t>, </a:t>
            </a:r>
            <a:r>
              <a:rPr sz="1000">
                <a:solidFill>
                  <a:srgbClr val="323232"/>
                </a:solidFill>
                <a:latin typeface="Calibri"/>
              </a:rPr>
              <a:t>8</a:t>
            </a:r>
            <a:r>
              <a:rPr sz="1000">
                <a:solidFill>
                  <a:srgbClr val="323232"/>
                </a:solidFill>
                <a:latin typeface="Calibri"/>
              </a:rPr>
              <a:t>(2), 1–9.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sz="1000">
                <a:solidFill>
                  <a:srgbClr val="646464"/>
                </a:solidFill>
                <a:latin typeface="Calibri"/>
              </a:rPr>
              <a:t>Akhilesh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r>
              <a:rPr sz="1000">
                <a:solidFill>
                  <a:srgbClr val="646464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sz="1000">
                <a:solidFill>
                  <a:srgbClr val="64646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667000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sz="4000">
                <a:solidFill>
                  <a:srgbClr val="102C57"/>
                </a:solidFill>
                <a:latin typeface="Times New Roman"/>
              </a:rPr>
              <a:t>Thank you &amp; Queries?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sz="1000">
                <a:solidFill>
                  <a:srgbClr val="646464"/>
                </a:solidFill>
                <a:latin typeface="Calibri"/>
              </a:rPr>
              <a:t>Akhilesh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r>
              <a:rPr sz="1000">
                <a:solidFill>
                  <a:srgbClr val="646464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sz="1000">
                <a:solidFill>
                  <a:srgbClr val="64646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102C57"/>
                </a:solidFill>
                <a:latin typeface="Calibri"/>
              </a:rPr>
              <a:t>Proposed BERT-BiLSTM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rPr sz="1800">
                <a:solidFill>
                  <a:srgbClr val="323232"/>
                </a:solidFill>
                <a:latin typeface="Calibri"/>
              </a:rPr>
              <a:t>Robust Preprocessing: Clean concatenation of 10 structured &amp; unstructured metadata fields (Title, Profile, Description, categorical fields), filtering out float NaN values and string formatting noise.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23232"/>
                </a:solidFill>
                <a:latin typeface="Calibri"/>
              </a:rPr>
              <a:t>BERT Embedding Extraction: Fine-tune pre-trained bert-base-uncased to extract context-rich token representations (512 sequence length, 768 dimensions).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23232"/>
                </a:solidFill>
                <a:latin typeface="Calibri"/>
              </a:rPr>
              <a:t>Sequence Preservation: Instead of using only the [CLS] representation, the full hidden state sequence is fed into a 2-layer Bidirectional LSTM (Bi-LSTM) network with 128 hidden units.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23232"/>
                </a:solidFill>
                <a:latin typeface="Calibri"/>
              </a:rPr>
              <a:t>Classification Head: Employs Global Max and Average Pooling followed by a dense dropout network to classify listings.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23232"/>
                </a:solidFill>
                <a:latin typeface="Calibri"/>
              </a:rPr>
              <a:t>Weighted Optimization: Handles severe class imbalance (fake posts &lt; 5%) using a class-weighted binary cross-entropy loss function (w_pos = 2.0).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6360"/>
            <a:ext cx="2133569" cy="365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46464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4230" y="6356360"/>
            <a:ext cx="2895630" cy="365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46464"/>
                </a:solidFill>
                <a:latin typeface="Calibri"/>
              </a:rPr>
              <a:t>Akhilesh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53230" y="6356360"/>
            <a:ext cx="2133569" cy="365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102C57"/>
                </a:solidFill>
                <a:latin typeface="Calibri"/>
              </a:rPr>
              <a:t>Explainable AI via SHAP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</a:pPr>
            <a:r>
              <a:rPr sz="1800">
                <a:solidFill>
                  <a:srgbClr val="323232"/>
                </a:solidFill>
                <a:latin typeface="Calibri"/>
              </a:rPr>
              <a:t>Explainability Problem: Traditional deep neural networks operate as black boxes, making it impossible to audit which words trigger fraud flags.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23232"/>
                </a:solidFill>
                <a:latin typeface="Calibri"/>
              </a:rPr>
              <a:t>SHAP Integration: Computes Shapley additive explanation values for each input token by evaluating marginal model prediction shifts across coalitions.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23232"/>
                </a:solidFill>
                <a:latin typeface="Calibri"/>
              </a:rPr>
              <a:t>Deceptive Word Attribution: Automatically identifies highly predictive fraudulent keywords (e.g., 'Immediate', 'Entry', 'Wire', 'Verification') vs. genuine indicators.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23232"/>
                </a:solidFill>
                <a:latin typeface="Calibri"/>
              </a:rPr>
              <a:t>Auditability: Provides recruitment platform administrators with direct visual token attributions to verify model decisions before taking 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6360"/>
            <a:ext cx="2133569" cy="365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46464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4230" y="6356360"/>
            <a:ext cx="2895630" cy="365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46464"/>
                </a:solidFill>
                <a:latin typeface="Calibri"/>
              </a:rPr>
              <a:t>Akhilesh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53230" y="6356360"/>
            <a:ext cx="2133569" cy="365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102C57"/>
                </a:solidFill>
                <a:latin typeface="Calibri"/>
              </a:rPr>
              <a:t>Comparative Results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02C57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02C57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02C57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02C57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02C57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02C57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0.98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0.98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Standard Bi-LSTM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Fraud-BERT Baseline 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C3C3C"/>
                          </a:solidFill>
                          <a:latin typeface="Calibri"/>
                        </a:rPr>
                        <a:t>0.99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02C57"/>
                          </a:solidFill>
                          <a:latin typeface="Calibri"/>
                        </a:rPr>
                        <a:t>Proposed BERT-BiLSTM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02C57"/>
                          </a:solidFill>
                          <a:latin typeface="Calibri"/>
                        </a:rP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02C57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02C57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02C57"/>
                          </a:solidFill>
                          <a:latin typeface="Calibri"/>
                        </a:rP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02C57"/>
                          </a:solidFill>
                          <a:latin typeface="Calibri"/>
                        </a:rPr>
                        <a:t>0.99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6576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02C57"/>
                </a:solidFill>
                <a:latin typeface="Calibri"/>
              </a:rPr>
              <a:t>Key Observations: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323232"/>
                </a:solidFill>
                <a:latin typeface="Calibri"/>
              </a:rPr>
              <a:t>* The Proposed BERT-BiLSTM model achieves a macro-averaged F1-score of 0.94 (94.42%) and precision of 0.97 (96.74%), outperforming the published Fraud-BERT baseline across all metrics.</a:t>
            </a:r>
          </a:p>
          <a:p>
            <a:r>
              <a:rPr sz="1400">
                <a:solidFill>
                  <a:srgbClr val="323232"/>
                </a:solidFill>
                <a:latin typeface="Calibri"/>
              </a:rPr>
              <a:t>* Specifically on the minority fraudulent class (Class 1), the model achieves an F1-score of 89.36% and catches 147 out of 173 fraud cases while maintaining extremely low false alarm rates.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6360"/>
            <a:ext cx="2133569" cy="365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46464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4230" y="6356360"/>
            <a:ext cx="2895630" cy="365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46464"/>
                </a:solidFill>
                <a:latin typeface="Calibri"/>
              </a:rPr>
              <a:t>Akhilesh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230" y="6356360"/>
            <a:ext cx="2133569" cy="365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102C57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</a:pPr>
            <a:r>
              <a:rPr sz="1800">
                <a:solidFill>
                  <a:srgbClr val="323232"/>
                </a:solidFill>
                <a:latin typeface="Calibri"/>
              </a:rPr>
              <a:t>A sequence-preserving BERT-BiLSTM framework was proposed and evaluated on the EMSCAD dataset.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23232"/>
                </a:solidFill>
                <a:latin typeface="Calibri"/>
              </a:rPr>
              <a:t>Demonstrated that passing full token hidden states to a 2-layer Bi-LSTM head preserves sequential text context, outperforming traditional linear heads on the [CLS] token.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23232"/>
                </a:solidFill>
                <a:latin typeface="Calibri"/>
              </a:rPr>
              <a:t>Resolved the black-box limitation of previous deep learning models by integrating SHAP for token-level explainability, indicating clear deceptive fraud keywords.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23232"/>
                </a:solidFill>
                <a:latin typeface="Calibri"/>
              </a:rPr>
              <a:t>The model achieves a macro precision of 0.97, recall of 0.92, F1-score of 0.94, and AUC of 0.99, outperforming existing baselines.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23232"/>
                </a:solidFill>
                <a:latin typeface="Calibri"/>
              </a:rPr>
              <a:t>Future Scope: Incorporate structured metadata (salary ranges, location data) and benchmark generalization across multi-source/multilingual job boards.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6360"/>
            <a:ext cx="2133569" cy="365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46464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4230" y="6356360"/>
            <a:ext cx="2895630" cy="365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46464"/>
                </a:solidFill>
                <a:latin typeface="Calibri"/>
              </a:rPr>
              <a:t>Akhilesh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53230" y="6356360"/>
            <a:ext cx="2133569" cy="365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102C57"/>
                </a:solidFill>
                <a:latin typeface="Calibri"/>
              </a:rPr>
              <a:t>Bibliography or References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102C57"/>
                </a:solidFill>
                <a:latin typeface="Calibri"/>
              </a:rPr>
              <a:t>[9] </a:t>
            </a:r>
            <a:r>
              <a:rPr sz="1000">
                <a:solidFill>
                  <a:srgbClr val="323232"/>
                </a:solidFill>
                <a:latin typeface="Calibri"/>
              </a:rPr>
              <a:t>Habib, S., Farooq, A., &amp; Malik, S. N. (2021). Fake job vacancy detection using ensemble voting classifier. In </a:t>
            </a:r>
            <a:r>
              <a:rPr sz="1000">
                <a:solidFill>
                  <a:srgbClr val="323232"/>
                </a:solidFill>
                <a:latin typeface="Calibri"/>
              </a:rPr>
              <a:t>2021 International Conference on Decision Aid Sciences and Application (DASA)</a:t>
            </a:r>
            <a:r>
              <a:rPr sz="1000">
                <a:solidFill>
                  <a:srgbClr val="323232"/>
                </a:solidFill>
                <a:latin typeface="Calibri"/>
              </a:rPr>
              <a:t> (pp. 245–250). IEEE.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102C57"/>
                </a:solidFill>
                <a:latin typeface="Calibri"/>
              </a:rPr>
              <a:t>[10] </a:t>
            </a:r>
            <a:r>
              <a:rPr sz="1000">
                <a:solidFill>
                  <a:srgbClr val="323232"/>
                </a:solidFill>
                <a:latin typeface="Calibri"/>
              </a:rPr>
              <a:t>Alghamdi, S., &amp; Alharby, G. (2019). Online recruitment fraud (ORF) detection using gated recurrent unit. </a:t>
            </a:r>
            <a:r>
              <a:rPr sz="1000">
                <a:solidFill>
                  <a:srgbClr val="323232"/>
                </a:solidFill>
                <a:latin typeface="Calibri"/>
              </a:rPr>
              <a:t>IEEE Access</a:t>
            </a:r>
            <a:r>
              <a:rPr sz="1000">
                <a:solidFill>
                  <a:srgbClr val="323232"/>
                </a:solidFill>
                <a:latin typeface="Calibri"/>
              </a:rPr>
              <a:t>, </a:t>
            </a:r>
            <a:r>
              <a:rPr sz="1000">
                <a:solidFill>
                  <a:srgbClr val="323232"/>
                </a:solidFill>
                <a:latin typeface="Calibri"/>
              </a:rPr>
              <a:t>7</a:t>
            </a:r>
            <a:r>
              <a:rPr sz="1000">
                <a:solidFill>
                  <a:srgbClr val="323232"/>
                </a:solidFill>
                <a:latin typeface="Calibri"/>
              </a:rPr>
              <a:t>, 13245–13253.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102C57"/>
                </a:solidFill>
                <a:latin typeface="Calibri"/>
              </a:rPr>
              <a:t>[11] </a:t>
            </a:r>
            <a:r>
              <a:rPr sz="1000">
                <a:solidFill>
                  <a:srgbClr val="323232"/>
                </a:solidFill>
                <a:latin typeface="Calibri"/>
              </a:rPr>
              <a:t>Kumar, A., &amp; Garg, S. (2022). Deceptive content detection on recruitment platforms using ensemble learning. </a:t>
            </a:r>
            <a:r>
              <a:rPr sz="1000">
                <a:solidFill>
                  <a:srgbClr val="323232"/>
                </a:solidFill>
                <a:latin typeface="Calibri"/>
              </a:rPr>
              <a:t>IEEE Transactions on Computational Social Systems</a:t>
            </a:r>
            <a:r>
              <a:rPr sz="1000">
                <a:solidFill>
                  <a:srgbClr val="323232"/>
                </a:solidFill>
                <a:latin typeface="Calibri"/>
              </a:rPr>
              <a:t>, </a:t>
            </a:r>
            <a:r>
              <a:rPr sz="1000">
                <a:solidFill>
                  <a:srgbClr val="323232"/>
                </a:solidFill>
                <a:latin typeface="Calibri"/>
              </a:rPr>
              <a:t>9</a:t>
            </a:r>
            <a:r>
              <a:rPr sz="1000">
                <a:solidFill>
                  <a:srgbClr val="323232"/>
                </a:solidFill>
                <a:latin typeface="Calibri"/>
              </a:rPr>
              <a:t>(4), 1120–1128.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102C57"/>
                </a:solidFill>
                <a:latin typeface="Calibri"/>
              </a:rPr>
              <a:t>[12] </a:t>
            </a:r>
            <a:r>
              <a:rPr sz="1000">
                <a:solidFill>
                  <a:srgbClr val="323232"/>
                </a:solidFill>
                <a:latin typeface="Calibri"/>
              </a:rPr>
              <a:t>Vidros, N., Iliou, C., &amp; Mylonas, T. (2017). Online recruitment fraud: A systematic review and classification. </a:t>
            </a:r>
            <a:r>
              <a:rPr sz="1000">
                <a:solidFill>
                  <a:srgbClr val="323232"/>
                </a:solidFill>
                <a:latin typeface="Calibri"/>
              </a:rPr>
              <a:t>IEEE Security &amp; Privacy</a:t>
            </a:r>
            <a:r>
              <a:rPr sz="1000">
                <a:solidFill>
                  <a:srgbClr val="323232"/>
                </a:solidFill>
                <a:latin typeface="Calibri"/>
              </a:rPr>
              <a:t>, </a:t>
            </a:r>
            <a:r>
              <a:rPr sz="1000">
                <a:solidFill>
                  <a:srgbClr val="323232"/>
                </a:solidFill>
                <a:latin typeface="Calibri"/>
              </a:rPr>
              <a:t>15</a:t>
            </a:r>
            <a:r>
              <a:rPr sz="1000">
                <a:solidFill>
                  <a:srgbClr val="323232"/>
                </a:solidFill>
                <a:latin typeface="Calibri"/>
              </a:rPr>
              <a:t>(4), 58–67.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102C57"/>
                </a:solidFill>
                <a:latin typeface="Calibri"/>
              </a:rPr>
              <a:t>[13] </a:t>
            </a:r>
            <a:r>
              <a:rPr sz="1000">
                <a:solidFill>
                  <a:srgbClr val="323232"/>
                </a:solidFill>
                <a:latin typeface="Calibri"/>
              </a:rPr>
              <a:t>Roy, S., Sinha, K., &amp; Singh, P. K. (2020). Fake job post detection using machine learning. In </a:t>
            </a:r>
            <a:r>
              <a:rPr sz="1000">
                <a:solidFill>
                  <a:srgbClr val="323232"/>
                </a:solidFill>
                <a:latin typeface="Calibri"/>
              </a:rPr>
              <a:t>2020 International Conference on Electronics and Sustainable Communication Systems (ICESC)</a:t>
            </a:r>
            <a:r>
              <a:rPr sz="1000">
                <a:solidFill>
                  <a:srgbClr val="323232"/>
                </a:solidFill>
                <a:latin typeface="Calibri"/>
              </a:rPr>
              <a:t> (pp. 1022–1027). IEEE.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102C57"/>
                </a:solidFill>
                <a:latin typeface="Calibri"/>
              </a:rPr>
              <a:t>[14] </a:t>
            </a:r>
            <a:r>
              <a:rPr sz="1000">
                <a:solidFill>
                  <a:srgbClr val="323232"/>
                </a:solidFill>
                <a:latin typeface="Calibri"/>
              </a:rPr>
              <a:t>Gupta, A., &amp; Rani, S. (2021). Contextualized representations for online recruitment fraud detection using BERT. In </a:t>
            </a:r>
            <a:r>
              <a:rPr sz="1000">
                <a:solidFill>
                  <a:srgbClr val="323232"/>
                </a:solidFill>
                <a:latin typeface="Calibri"/>
              </a:rPr>
              <a:t>2021 IEEE International Conference on Computing, Communication and Automation (ICCCA)</a:t>
            </a:r>
            <a:r>
              <a:rPr sz="1000">
                <a:solidFill>
                  <a:srgbClr val="323232"/>
                </a:solidFill>
                <a:latin typeface="Calibri"/>
              </a:rPr>
              <a:t> (pp. 1–5). IEEE.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102C57"/>
                </a:solidFill>
                <a:latin typeface="Calibri"/>
              </a:rPr>
              <a:t>[15] </a:t>
            </a:r>
            <a:r>
              <a:rPr sz="1000">
                <a:solidFill>
                  <a:srgbClr val="323232"/>
                </a:solidFill>
                <a:latin typeface="Calibri"/>
              </a:rPr>
              <a:t>Liao, Y., &amp; Wang, J. (2023). Online recruitment fraud detection based on a hybrid deep learning model. In </a:t>
            </a:r>
            <a:r>
              <a:rPr sz="1000">
                <a:solidFill>
                  <a:srgbClr val="323232"/>
                </a:solidFill>
                <a:latin typeface="Calibri"/>
              </a:rPr>
              <a:t>2023 IEEE 6th International Conference on Information Systems and Computer Aided Education (ICISCAE)</a:t>
            </a:r>
            <a:r>
              <a:rPr sz="1000">
                <a:solidFill>
                  <a:srgbClr val="323232"/>
                </a:solidFill>
                <a:latin typeface="Calibri"/>
              </a:rPr>
              <a:t> (pp. 431–435). IEEE.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6360"/>
            <a:ext cx="2133569" cy="365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46464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4230" y="6356360"/>
            <a:ext cx="2895630" cy="365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46464"/>
                </a:solidFill>
                <a:latin typeface="Calibri"/>
              </a:rPr>
              <a:t>Akhilesh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53230" y="6356360"/>
            <a:ext cx="2133569" cy="365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46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102</Words>
  <Application>Microsoft Office PowerPoint</Application>
  <PresentationFormat>On-screen Show (4:3)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Proposed Title of the Dissertation </vt:lpstr>
      <vt:lpstr>Table of Contents</vt:lpstr>
      <vt:lpstr>Introduction-1</vt:lpstr>
      <vt:lpstr>Literature Review</vt:lpstr>
      <vt:lpstr>Literature Review</vt:lpstr>
      <vt:lpstr>Bibliography or References</vt:lpstr>
      <vt:lpstr>Thank you  Queries?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topic</dc:title>
  <dc:creator>cu</dc:creator>
  <cp:lastModifiedBy>CU</cp:lastModifiedBy>
  <cp:revision>6</cp:revision>
  <dcterms:created xsi:type="dcterms:W3CDTF">2017-06-08T07:27:19Z</dcterms:created>
  <dcterms:modified xsi:type="dcterms:W3CDTF">2026-08-24T09:14:45Z</dcterms:modified>
</cp:coreProperties>
</file>