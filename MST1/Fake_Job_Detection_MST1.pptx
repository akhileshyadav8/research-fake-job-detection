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73" r:id="rId3"/>
    <p:sldId id="274" r:id="rId4"/>
    <p:sldId id="261" r:id="rId5"/>
    <p:sldId id="262" r:id="rId6"/>
    <p:sldId id="275" r:id="rId14"/>
    <p:sldId id="276" r:id="rId15"/>
    <p:sldId id="277" r:id="rId16"/>
    <p:sldId id="278" r:id="rId17"/>
    <p:sldId id="269" r:id="rId7"/>
    <p:sldId id="270" r:id="rId8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2" d="100"/>
          <a:sy n="82" d="100"/>
        </p:scale>
        <p:origin x="1566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08C4B4A-C268-43AA-98EC-8445F1A1C517}" type="datetimeFigureOut">
              <a:rPr lang="en-US" smtClean="0"/>
              <a:pPr/>
              <a:t>8/24/2026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EAF5F5-63B2-4552-B78C-BC2A42132EE0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Department Name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 smtClean="0"/>
              <a:t>Scholar Name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 smtClean="0"/>
              <a:t>Slide Number</a:t>
            </a:r>
            <a:fld id="{0FD9B02D-30DA-4306-A281-F3D99E0F94F5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mtClean="0"/>
              <a:t>Department Name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Scholar Name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9B02D-30DA-4306-A281-F3D99E0F94F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mtClean="0"/>
              <a:t>Department Name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Scholar Name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9B02D-30DA-4306-A281-F3D99E0F94F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mtClean="0"/>
              <a:t>Department Name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Scholar Name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9B02D-30DA-4306-A281-F3D99E0F94F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mtClean="0"/>
              <a:t>Department Name</a:t>
            </a:r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Scholar Name</a:t>
            </a: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9B02D-30DA-4306-A281-F3D99E0F94F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mtClean="0"/>
              <a:t>Department Name</a:t>
            </a:r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Scholar Name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9B02D-30DA-4306-A281-F3D99E0F94F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mtClean="0"/>
              <a:t>Department Name</a:t>
            </a:r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Scholar Name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9B02D-30DA-4306-A281-F3D99E0F94F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mtClean="0"/>
              <a:t>Department Name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Scholar Name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9B02D-30DA-4306-A281-F3D99E0F94F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mtClean="0"/>
              <a:t>Department Name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Scholar Name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9B02D-30DA-4306-A281-F3D99E0F94F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mtClean="0"/>
              <a:t>Department Name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Scholar Name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9B02D-30DA-4306-A281-F3D99E0F94F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mtClean="0"/>
              <a:t>Department Name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Scholar Name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9B02D-30DA-4306-A281-F3D99E0F94F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smtClean="0"/>
              <a:t>Department Name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smtClean="0"/>
              <a:t>Scholar Name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 smtClean="0"/>
              <a:t>Author Name</a:t>
            </a:r>
            <a:fld id="{0FD9B02D-30DA-4306-A281-F3D99E0F94F5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7" name="Picture 2"/>
          <p:cNvPicPr>
            <a:picLocks noChangeAspect="1" noChangeArrowheads="1"/>
          </p:cNvPicPr>
          <p:nvPr userDrawn="1"/>
        </p:nvPicPr>
        <p:blipFill>
          <a:blip r:embed="rId13"/>
          <a:srcRect/>
          <a:stretch>
            <a:fillRect/>
          </a:stretch>
        </p:blipFill>
        <p:spPr bwMode="auto">
          <a:xfrm>
            <a:off x="76200" y="86360"/>
            <a:ext cx="762000" cy="12090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371600"/>
            <a:ext cx="7772400" cy="1470025"/>
          </a:xfrm>
        </p:spPr>
        <p:txBody>
          <a:bodyPr>
            <a:normAutofit/>
          </a:bodyPr>
          <a:lstStyle/>
          <a:p>
            <a:pPr algn="ctr"/>
            <a:r>
              <a:rPr sz="2400">
                <a:solidFill>
                  <a:srgbClr val="102C57"/>
                </a:solidFill>
                <a:latin typeface="Times New Roman"/>
              </a:rPr>
              <a:t>An Explainable and Sequence-Preserving BERT-BiLSTM Framework for Online Recruitment Fraud Detection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76400" y="2743200"/>
            <a:ext cx="6400800" cy="1143000"/>
          </a:xfrm>
        </p:spPr>
        <p:txBody>
          <a:bodyPr>
            <a:normAutofit fontScale="92500" lnSpcReduction="10000"/>
          </a:bodyPr>
          <a:lstStyle/>
          <a:p>
            <a:pPr algn="ctr"/>
            <a:r>
              <a:rPr sz="1600">
                <a:solidFill>
                  <a:srgbClr val="505050"/>
                </a:solidFill>
                <a:latin typeface="Calibri"/>
              </a:rPr>
              <a:t>Presented by:</a:t>
            </a:r>
          </a:p>
          <a:p>
            <a:pPr algn="ctr"/>
            <a:r>
              <a:rPr sz="1600">
                <a:solidFill>
                  <a:srgbClr val="505050"/>
                </a:solidFill>
                <a:latin typeface="Calibri"/>
              </a:rPr>
              <a:t>Akhilesh</a:t>
            </a:r>
          </a:p>
          <a:p>
            <a:pPr algn="ctr"/>
            <a:r>
              <a:rPr sz="1600">
                <a:solidFill>
                  <a:srgbClr val="505050"/>
                </a:solidFill>
                <a:latin typeface="Calibri"/>
              </a:rPr>
              <a:t>Department of Computer Science and Engineering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>
                <a:solidFill>
                  <a:schemeClr val="tx1"/>
                </a:solidFill>
              </a:rPr>
              <a:t>Student Name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" name="Subtitle 2"/>
          <p:cNvSpPr txBox="1">
            <a:spLocks/>
          </p:cNvSpPr>
          <p:nvPr/>
        </p:nvSpPr>
        <p:spPr>
          <a:xfrm>
            <a:off x="228600" y="4419600"/>
            <a:ext cx="2819400" cy="1143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sz="1400">
                <a:solidFill>
                  <a:srgbClr val="505050"/>
                </a:solidFill>
                <a:latin typeface="Calibri"/>
              </a:rPr>
              <a:t>UID: [Your UID]</a:t>
            </a:r>
          </a:p>
        </p:txBody>
      </p:sp>
      <p:sp>
        <p:nvSpPr>
          <p:cNvPr id="6" name="Subtitle 2"/>
          <p:cNvSpPr txBox="1">
            <a:spLocks/>
          </p:cNvSpPr>
          <p:nvPr/>
        </p:nvSpPr>
        <p:spPr>
          <a:xfrm>
            <a:off x="6324600" y="4343400"/>
            <a:ext cx="2819400" cy="1143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sz="1400">
                <a:solidFill>
                  <a:srgbClr val="505050"/>
                </a:solidFill>
                <a:latin typeface="Calibri"/>
              </a:rPr>
              <a:t>Supervisor(s): [Your Supervisor Name]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sz="1200">
                <a:solidFill>
                  <a:srgbClr val="646464"/>
                </a:solidFill>
                <a:latin typeface="Calibri"/>
              </a:rPr>
              <a:t>M.Sc. (Data Science)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sz="1200">
                <a:solidFill>
                  <a:srgbClr val="646464"/>
                </a:solidFill>
                <a:latin typeface="Calibri"/>
              </a:rPr>
              <a:t>Page 1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2400">
                <a:solidFill>
                  <a:srgbClr val="102C57"/>
                </a:solidFill>
                <a:latin typeface="Calibri"/>
              </a:rPr>
              <a:t>Table of Contents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/>
          <a:p>
            <a:pPr>
              <a:spcAft>
                <a:spcPts val="800"/>
              </a:spcAft>
            </a:pPr>
            <a:r>
              <a:rPr sz="2000">
                <a:solidFill>
                  <a:srgbClr val="323232"/>
                </a:solidFill>
                <a:latin typeface="Calibri"/>
              </a:rPr>
              <a:t>Introduction &amp; Research Motivation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23232"/>
                </a:solidFill>
                <a:latin typeface="Calibri"/>
              </a:rPr>
              <a:t>Literature Review (State-of-the-Art Benchmarks)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23232"/>
                </a:solidFill>
                <a:latin typeface="Calibri"/>
              </a:rPr>
              <a:t>Proposed Hybrid BERT-BiLSTM Methodology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23232"/>
                </a:solidFill>
                <a:latin typeface="Calibri"/>
              </a:rPr>
              <a:t>Explainable AI (SHAP) and Robust Preprocessing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23232"/>
                </a:solidFill>
                <a:latin typeface="Calibri"/>
              </a:rPr>
              <a:t>Experimental Setup &amp; Dataset Details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23232"/>
                </a:solidFill>
                <a:latin typeface="Calibri"/>
              </a:rPr>
              <a:t>Comparative Results &amp; Significance Analysis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23232"/>
                </a:solidFill>
                <a:latin typeface="Calibri"/>
              </a:rPr>
              <a:t>Conclusion &amp; Future Work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sz="1000">
                <a:solidFill>
                  <a:srgbClr val="646464"/>
                </a:solidFill>
                <a:latin typeface="Calibri"/>
              </a:rPr>
              <a:t>Akhilesh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l"/>
            <a:r>
              <a:rPr sz="1000">
                <a:solidFill>
                  <a:srgbClr val="646464"/>
                </a:solidFill>
                <a:latin typeface="Calibri"/>
              </a:rPr>
              <a:t>Department of Computer Science and Engineering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sz="1000">
                <a:solidFill>
                  <a:srgbClr val="646464"/>
                </a:solidFill>
                <a:latin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5690537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2400">
                <a:solidFill>
                  <a:srgbClr val="102C57"/>
                </a:solidFill>
                <a:latin typeface="Calibri"/>
              </a:rPr>
              <a:t>Introduction &amp; Research 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/>
          <a:p>
            <a:pPr>
              <a:spcAft>
                <a:spcPts val="600"/>
              </a:spcAft>
            </a:pPr>
            <a:r>
              <a:rPr sz="1800">
                <a:solidFill>
                  <a:srgbClr val="323232"/>
                </a:solidFill>
                <a:latin typeface="Calibri"/>
              </a:rPr>
              <a:t>Online Recruitment Fraud (ORF): Fake job ads on portals like LinkedIn/Indeed aim to steal personal identification details or extort visa/training fees.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23232"/>
                </a:solidFill>
                <a:latin typeface="Calibri"/>
              </a:rPr>
              <a:t>Traditional ML Limitations: Logistic Regression and Random Forests rely on TF-IDF vectors, ignoring sentence structure, syntax, and word context.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23232"/>
                </a:solidFill>
                <a:latin typeface="Calibri"/>
              </a:rPr>
              <a:t>Deep Learning Limitations: LSTMs and GRUs capture temporal sequences but use static word embeddings (Word2Vec), failing on polysemous terms.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23232"/>
                </a:solidFill>
                <a:latin typeface="Calibri"/>
              </a:rPr>
              <a:t>Transformer Limitations: Standard fine-tuned BERT models discard sequential syntax by classifying solely on the single [CLS] token representation.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23232"/>
                </a:solidFill>
                <a:latin typeface="Calibri"/>
              </a:rPr>
              <a:t>Black-Box Decision Making: Neural network classifiers do not explain why a post was flagged, creating trust issues for platform moderators.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23232"/>
                </a:solidFill>
                <a:latin typeface="Calibri"/>
              </a:rPr>
              <a:t>Proposed Solution: A sequence-preserving BERT-BiLSTM framework fine-tuned on imbalanced EMSCAD text data with SHAP token-level visual explainability.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sz="1000">
                <a:solidFill>
                  <a:srgbClr val="646464"/>
                </a:solidFill>
                <a:latin typeface="Calibri"/>
              </a:rPr>
              <a:t>Akhilesh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l"/>
            <a:r>
              <a:rPr sz="1000">
                <a:solidFill>
                  <a:srgbClr val="646464"/>
                </a:solidFill>
                <a:latin typeface="Calibri"/>
              </a:rPr>
              <a:t>Department of Computer Science and Engineering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sz="1000">
                <a:solidFill>
                  <a:srgbClr val="646464"/>
                </a:solidFill>
                <a:latin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6456424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2400">
                <a:solidFill>
                  <a:srgbClr val="102C57"/>
                </a:solidFill>
                <a:latin typeface="Calibri"/>
              </a:rPr>
              <a:t>Literature Review - Benchmarks (Part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/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sz="1000">
                <a:solidFill>
                  <a:srgbClr val="646464"/>
                </a:solidFill>
                <a:latin typeface="Calibri"/>
              </a:rPr>
              <a:t>Akhilesh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l"/>
            <a:r>
              <a:rPr sz="1000">
                <a:solidFill>
                  <a:srgbClr val="646464"/>
                </a:solidFill>
                <a:latin typeface="Calibri"/>
              </a:rPr>
              <a:t>Department of Computer Science and Engineering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sz="1000">
                <a:solidFill>
                  <a:srgbClr val="646464"/>
                </a:solidFill>
                <a:latin typeface="Calibri"/>
              </a:rPr>
              <a:t>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2000" y="2057400"/>
          <a:ext cx="7848599" cy="3708400"/>
        </p:xfrm>
        <a:graphic>
          <a:graphicData uri="http://schemas.openxmlformats.org/drawingml/2006/table">
            <a:tbl>
              <a:tblPr firstRow="1" bandRow="1">
                <a:tableStyleId>{0660B408-B3CF-4A94-85FC-2B1E0A45F4A2}</a:tableStyleId>
              </a:tblPr>
              <a:tblGrid>
                <a:gridCol w="18282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314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88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Author &amp; Year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Findings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Journal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C3C3C"/>
                          </a:solidFill>
                          <a:latin typeface="Calibri"/>
                        </a:rPr>
                        <a:t>Taneja et al. (2025)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C3C3C"/>
                          </a:solidFill>
                          <a:latin typeface="Calibri"/>
                        </a:rPr>
                        <a:t>Developed Fraud-BERT; reported macro F1-score of 0.93 and accuracy of 99%. Shows importance of transformers.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C3C3C"/>
                          </a:solidFill>
                          <a:latin typeface="Calibri"/>
                        </a:rPr>
                        <a:t>Discover Computing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C3C3C"/>
                          </a:solidFill>
                          <a:latin typeface="Calibri"/>
                        </a:rPr>
                        <a:t>Pillai (2023)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C3C3C"/>
                          </a:solidFill>
                          <a:latin typeface="Calibri"/>
                        </a:rPr>
                        <a:t>Proposed Bi-LSTM model on static embeddings. Achieved 98.71% accuracy but suffered from static word vectors.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C3C3C"/>
                          </a:solidFill>
                          <a:latin typeface="Calibri"/>
                        </a:rPr>
                        <a:t>IRJMETS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C3C3C"/>
                          </a:solidFill>
                          <a:latin typeface="Calibri"/>
                        </a:rPr>
                        <a:t>Naude et al. (2023)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C3C3C"/>
                          </a:solidFill>
                          <a:latin typeface="Calibri"/>
                        </a:rPr>
                        <a:t>Utilized Gradient Boosting with POS tags and custom rule-sets. Obtained F1-score of 0.88 on fraud types.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C3C3C"/>
                          </a:solidFill>
                          <a:latin typeface="Calibri"/>
                        </a:rPr>
                        <a:t>AI &amp; Society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C3C3C"/>
                          </a:solidFill>
                          <a:latin typeface="Calibri"/>
                        </a:rPr>
                        <a:t>Chiraratanasopha (2022)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C3C3C"/>
                          </a:solidFill>
                          <a:latin typeface="Calibri"/>
                        </a:rPr>
                        <a:t>Integrated domain knowledge features (missing logo, salary exaggeration). Achieved 97.64% RF accuracy.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C3C3C"/>
                          </a:solidFill>
                          <a:latin typeface="Calibri"/>
                        </a:rPr>
                        <a:t>CAST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C3C3C"/>
                          </a:solidFill>
                          <a:latin typeface="Calibri"/>
                        </a:rPr>
                        <a:t>Salloum et al. (2024)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C3C3C"/>
                          </a:solidFill>
                          <a:latin typeface="Calibri"/>
                        </a:rPr>
                        <a:t>Benchmarked LR and DT. High variance in evaluation due to severe class imbalance on EMSCAD.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C3C3C"/>
                          </a:solidFill>
                          <a:latin typeface="Calibri"/>
                        </a:rPr>
                        <a:t>JMLR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C3C3C"/>
                          </a:solidFill>
                          <a:latin typeface="Calibri"/>
                        </a:rPr>
                        <a:t>Sanisetty et al. (2025)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C3C3C"/>
                          </a:solidFill>
                          <a:latin typeface="Calibri"/>
                        </a:rPr>
                        <a:t>Combined BERT contextual embeddings with sentiment analysis to identify deceptive job descriptions.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C3C3C"/>
                          </a:solidFill>
                          <a:latin typeface="Calibri"/>
                        </a:rPr>
                        <a:t>ICDCECE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C3C3C"/>
                          </a:solidFill>
                          <a:latin typeface="Calibri"/>
                        </a:rPr>
                        <a:t>Srilakshmi et al. (2026)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C3C3C"/>
                          </a:solidFill>
                          <a:latin typeface="Calibri"/>
                        </a:rPr>
                        <a:t>Designed hybrid model combining BERT, RoBERTa, SMOBD, and 2D CNN for fraud detection.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C3C3C"/>
                          </a:solidFill>
                          <a:latin typeface="Calibri"/>
                        </a:rPr>
                        <a:t>Procedia CS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C3C3C"/>
                          </a:solidFill>
                          <a:latin typeface="Calibri"/>
                        </a:rPr>
                        <a:t>Alghamdi et al. (2019)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C3C3C"/>
                          </a:solidFill>
                          <a:latin typeface="Calibri"/>
                        </a:rPr>
                        <a:t>Investigated Gated Recurrent Units (GRU) for ORF. Found GRU has fewer parameters than standard LSTMs.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C3C3C"/>
                          </a:solidFill>
                          <a:latin typeface="Calibri"/>
                        </a:rPr>
                        <a:t>IEEE Access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C3C3C"/>
                          </a:solidFill>
                          <a:latin typeface="Calibri"/>
                        </a:rPr>
                        <a:t>Habib et al. (2021)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C3C3C"/>
                          </a:solidFill>
                          <a:latin typeface="Calibri"/>
                        </a:rPr>
                        <a:t>Developed ensemble voting classifier combining RF and Naive Bayes for high stability.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C3C3C"/>
                          </a:solidFill>
                          <a:latin typeface="Calibri"/>
                        </a:rPr>
                        <a:t>IEEE DASA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2400">
                <a:solidFill>
                  <a:srgbClr val="102C57"/>
                </a:solidFill>
                <a:latin typeface="Calibri"/>
              </a:rPr>
              <a:t>Literature Review - Benchmarks (Part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/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sz="1000">
                <a:solidFill>
                  <a:srgbClr val="646464"/>
                </a:solidFill>
                <a:latin typeface="Calibri"/>
              </a:rPr>
              <a:t>Akhilesh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l"/>
            <a:r>
              <a:rPr sz="1000">
                <a:solidFill>
                  <a:srgbClr val="646464"/>
                </a:solidFill>
                <a:latin typeface="Calibri"/>
              </a:rPr>
              <a:t>Department of Computer Science and Engineering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sz="1000">
                <a:solidFill>
                  <a:srgbClr val="646464"/>
                </a:solidFill>
                <a:latin typeface="Calibri"/>
              </a:rPr>
              <a:t>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2000" y="2057400"/>
          <a:ext cx="7848599" cy="3708400"/>
        </p:xfrm>
        <a:graphic>
          <a:graphicData uri="http://schemas.openxmlformats.org/drawingml/2006/table">
            <a:tbl>
              <a:tblPr firstRow="1" bandRow="1">
                <a:tableStyleId>{0660B408-B3CF-4A94-85FC-2B1E0A45F4A2}</a:tableStyleId>
              </a:tblPr>
              <a:tblGrid>
                <a:gridCol w="18282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314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88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Author &amp; Year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Findings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Journal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C3C3C"/>
                          </a:solidFill>
                          <a:latin typeface="Calibri"/>
                        </a:rPr>
                        <a:t>Kumar &amp; Garg (2022)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C3C3C"/>
                          </a:solidFill>
                          <a:latin typeface="Calibri"/>
                        </a:rPr>
                        <a:t>Used Word2Vec static embeddings with ensemble classifiers. Fails on context polysemy.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C3C3C"/>
                          </a:solidFill>
                          <a:latin typeface="Calibri"/>
                        </a:rPr>
                        <a:t>IEEE Trans. CSS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C3C3C"/>
                          </a:solidFill>
                          <a:latin typeface="Calibri"/>
                        </a:rPr>
                        <a:t>Vidros et al. (2017)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C3C3C"/>
                          </a:solidFill>
                          <a:latin typeface="Calibri"/>
                        </a:rPr>
                        <a:t>Conducted systematic review of ORF and established classification guidelines for deep learning.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C3C3C"/>
                          </a:solidFill>
                          <a:latin typeface="Calibri"/>
                        </a:rPr>
                        <a:t>IEEE S&amp;P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C3C3C"/>
                          </a:solidFill>
                          <a:latin typeface="Calibri"/>
                        </a:rPr>
                        <a:t>Roy et al. (2020)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C3C3C"/>
                          </a:solidFill>
                          <a:latin typeface="Calibri"/>
                        </a:rPr>
                        <a:t>Benchmarked traditional ML models; noted SVM is effective on small vocabulary sizes.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C3C3C"/>
                          </a:solidFill>
                          <a:latin typeface="Calibri"/>
                        </a:rPr>
                        <a:t>IEEE ICESC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C3C3C"/>
                          </a:solidFill>
                          <a:latin typeface="Calibri"/>
                        </a:rPr>
                        <a:t>Gupta &amp; Rani (2021)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C3C3C"/>
                          </a:solidFill>
                          <a:latin typeface="Calibri"/>
                        </a:rPr>
                        <a:t>Emphasized that bidirectional self-attention is critical to capturing job post vocabulary shifts.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C3C3C"/>
                          </a:solidFill>
                          <a:latin typeface="Calibri"/>
                        </a:rPr>
                        <a:t>IEEE ICCCA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C3C3C"/>
                          </a:solidFill>
                          <a:latin typeface="Calibri"/>
                        </a:rPr>
                        <a:t>Liao &amp; Wang (2023)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C3C3C"/>
                          </a:solidFill>
                          <a:latin typeface="Calibri"/>
                        </a:rPr>
                        <a:t>Proposed hybrid deep learning model extracting text features via pre-trained transformers.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C3C3C"/>
                          </a:solidFill>
                          <a:latin typeface="Calibri"/>
                        </a:rPr>
                        <a:t>IEEE ICISCAE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C3C3C"/>
                          </a:solidFill>
                          <a:latin typeface="Calibri"/>
                        </a:rPr>
                        <a:t>Our Proposed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C3C3C"/>
                          </a:solidFill>
                          <a:latin typeface="Calibri"/>
                        </a:rPr>
                        <a:t>Sequence-preserving BERT-BiLSTM framework fine-tuned on EMSCAD imbalanced data.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C3C3C"/>
                          </a:solidFill>
                          <a:latin typeface="Calibri"/>
                        </a:rPr>
                        <a:t>MST-1 Proposal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2400">
                <a:solidFill>
                  <a:srgbClr val="102C57"/>
                </a:solidFill>
                <a:latin typeface="Calibri"/>
              </a:rPr>
              <a:t>Bibliography or 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/>
          <a:p>
            <a:pPr>
              <a:spcAft>
                <a:spcPts val="400"/>
              </a:spcAft>
            </a:pPr>
            <a:r>
              <a:rPr sz="1000">
                <a:solidFill>
                  <a:srgbClr val="323232"/>
                </a:solidFill>
                <a:latin typeface="Calibri"/>
              </a:rPr>
              <a:t>[1] K. Taneja, J. Vashishtha, and S. Ratnoo, "Fraud-BERT: transformer based context aware online recruitment fraud detection," *Discover Computing*, vol. 28, no. 9, pp. 1-16, 2025.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323232"/>
                </a:solidFill>
                <a:latin typeface="Calibri"/>
              </a:rPr>
              <a:t>[2] A. S. Pillai, "Detecting Fake Job Postings Using Bidirectional LSTM," *IRJMETS*, vol. 5, no. 3, pp. 3883-3890, 2023.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323232"/>
                </a:solidFill>
                <a:latin typeface="Calibri"/>
              </a:rPr>
              <a:t>[3] M. Naude et al., "A machine learning approach to detecting fraudulent job types," *AI &amp; Society*, vol. 38, pp. 1013-1024, 2023.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323232"/>
                </a:solidFill>
                <a:latin typeface="Calibri"/>
              </a:rPr>
              <a:t>[4] B. Chiraratanasopha and T. Chay-intr, "Detecting Fraud Job Recruitment Using Features Reflecting Real-world Knowledge," *CAST*, vol. 22, no. 6, pp. 1-12, 2022.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323232"/>
                </a:solidFill>
                <a:latin typeface="Calibri"/>
              </a:rPr>
              <a:t>[5] S. Salloum et al., "Analysis of Fraudulent Job Postings Using Machine Learning," *JMLR*, vol. 5, pp. 1-15, 2024.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323232"/>
                </a:solidFill>
                <a:latin typeface="Calibri"/>
              </a:rPr>
              <a:t>[6] S. S. S. Sanisetty et al., "Comprehensive Approach to Fraudulent Job Post Detection Using BERT," *ICDCECE*, 2025.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323232"/>
                </a:solidFill>
                <a:latin typeface="Calibri"/>
              </a:rPr>
              <a:t>[7] V. Srilakshmi, S. Arukonda, and V. L. Chetana, "A Transformer-Based Framework for Online Recruitment Fraud Detection," *Procedia CS*, vol. 283, pp. 1145-1153, 2026.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323232"/>
                </a:solidFill>
                <a:latin typeface="Calibri"/>
              </a:rPr>
              <a:t>[8] S. Habib, A. Farooq, and S. N. Malik, "Fake Job Vacancy Detection Using Ensemble Voting Classifier," *IEEE DASA*, 2021.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323232"/>
                </a:solidFill>
                <a:latin typeface="Calibri"/>
              </a:rPr>
              <a:t>[9] S. Alghamdi and G. Alharby, "Online Recruitment Fraud (ORF) Detection Using Gated Recurrent Unit," *IEEE Access*, vol. 7, pp. 13245-13253, 2019.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sz="1000">
                <a:solidFill>
                  <a:srgbClr val="646464"/>
                </a:solidFill>
                <a:latin typeface="Calibri"/>
              </a:rPr>
              <a:t>Akhilesh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l"/>
            <a:r>
              <a:rPr sz="1000">
                <a:solidFill>
                  <a:srgbClr val="646464"/>
                </a:solidFill>
                <a:latin typeface="Calibri"/>
              </a:rPr>
              <a:t>Department of Computer Science and Engineering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sz="1000">
                <a:solidFill>
                  <a:srgbClr val="646464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2667000"/>
            <a:ext cx="8229600" cy="1143000"/>
          </a:xfrm>
        </p:spPr>
        <p:txBody>
          <a:bodyPr>
            <a:normAutofit fontScale="90000"/>
          </a:bodyPr>
          <a:lstStyle/>
          <a:p>
            <a:pPr algn="ctr"/>
            <a:r>
              <a:rPr sz="4000">
                <a:solidFill>
                  <a:srgbClr val="102C57"/>
                </a:solidFill>
                <a:latin typeface="Times New Roman"/>
              </a:rPr>
              <a:t>Thank you &amp; Queries?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sz="1000">
                <a:solidFill>
                  <a:srgbClr val="646464"/>
                </a:solidFill>
                <a:latin typeface="Calibri"/>
              </a:rPr>
              <a:t>Akhilesh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l"/>
            <a:r>
              <a:rPr sz="1000">
                <a:solidFill>
                  <a:srgbClr val="646464"/>
                </a:solidFill>
                <a:latin typeface="Calibri"/>
              </a:rPr>
              <a:t>Department of Computer Science and Engineering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sz="1000">
                <a:solidFill>
                  <a:srgbClr val="646464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102C57"/>
                </a:solidFill>
                <a:latin typeface="Calibri"/>
              </a:rPr>
              <a:t>Proposed BERT-BiLSTM Methodology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600"/>
              </a:spcAft>
            </a:pPr>
            <a:r>
              <a:rPr sz="1800">
                <a:solidFill>
                  <a:srgbClr val="323232"/>
                </a:solidFill>
                <a:latin typeface="Calibri"/>
              </a:rPr>
              <a:t>Robust Preprocessing: Clean concatenation of 10 structured &amp; unstructured metadata fields (Title, Profile, Description, categorical fields), filtering out float NaN values and string formatting noise.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23232"/>
                </a:solidFill>
                <a:latin typeface="Calibri"/>
              </a:rPr>
              <a:t>BERT Embedding Extraction: Fine-tune pre-trained bert-base-uncased to extract context-rich token representations (512 sequence length, 768 dimensions).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23232"/>
                </a:solidFill>
                <a:latin typeface="Calibri"/>
              </a:rPr>
              <a:t>Sequence Preservation: Instead of using only the [CLS] representation, the full hidden state sequence is fed into a 2-layer Bidirectional LSTM (Bi-LSTM) network with 128 hidden units.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23232"/>
                </a:solidFill>
                <a:latin typeface="Calibri"/>
              </a:rPr>
              <a:t>Classification Head: Employs Global Max and Average Pooling followed by a dense dropout network to classify listings.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323232"/>
                </a:solidFill>
                <a:latin typeface="Calibri"/>
              </a:rPr>
              <a:t>Weighted Optimization: Handles severe class imbalance (fake posts &lt; 5%) using a class-weighted binary cross-entropy loss function (w_pos = 2.0).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356360"/>
            <a:ext cx="2133569" cy="3651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>
                <a:solidFill>
                  <a:srgbClr val="646464"/>
                </a:solidFill>
                <a:latin typeface="Calibri"/>
              </a:rPr>
              <a:t>Department of Computer Science and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24230" y="6356360"/>
            <a:ext cx="2895630" cy="3651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>
                <a:solidFill>
                  <a:srgbClr val="646464"/>
                </a:solidFill>
                <a:latin typeface="Calibri"/>
              </a:rPr>
              <a:t>Akhilesh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53230" y="6356360"/>
            <a:ext cx="2133569" cy="3651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46464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102C57"/>
                </a:solidFill>
                <a:latin typeface="Calibri"/>
              </a:rPr>
              <a:t>Explainable AI via SHAP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800"/>
              </a:spcAft>
            </a:pPr>
            <a:r>
              <a:rPr sz="1800">
                <a:solidFill>
                  <a:srgbClr val="323232"/>
                </a:solidFill>
                <a:latin typeface="Calibri"/>
              </a:rPr>
              <a:t>Explainability Problem: Traditional deep neural networks operate as black boxes, making it impossible to audit which words trigger fraud flags.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23232"/>
                </a:solidFill>
                <a:latin typeface="Calibri"/>
              </a:rPr>
              <a:t>SHAP Integration: Computes Shapley additive explanation values for each input token by evaluating marginal model prediction shifts across coalitions.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23232"/>
                </a:solidFill>
                <a:latin typeface="Calibri"/>
              </a:rPr>
              <a:t>Deceptive Word Attribution: Automatically identifies highly predictive fraudulent keywords (e.g., 'Immediate', 'Entry', 'Wire', 'Verification') vs. genuine indicators.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23232"/>
                </a:solidFill>
                <a:latin typeface="Calibri"/>
              </a:rPr>
              <a:t>Auditability: Provides recruitment platform administrators with direct visual token attributions to verify model decisions before taking action.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356360"/>
            <a:ext cx="2133569" cy="3651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>
                <a:solidFill>
                  <a:srgbClr val="646464"/>
                </a:solidFill>
                <a:latin typeface="Calibri"/>
              </a:rPr>
              <a:t>Department of Computer Science and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24230" y="6356360"/>
            <a:ext cx="2895630" cy="3651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>
                <a:solidFill>
                  <a:srgbClr val="646464"/>
                </a:solidFill>
                <a:latin typeface="Calibri"/>
              </a:rPr>
              <a:t>Akhilesh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53230" y="6356360"/>
            <a:ext cx="2133569" cy="3651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46464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102C57"/>
                </a:solidFill>
                <a:latin typeface="Calibri"/>
              </a:rPr>
              <a:t>Comparative Results &amp; Performance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82296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3352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02C57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02C57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02C57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02C57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02C57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02C57"/>
                          </a:solidFill>
                          <a:latin typeface="Calibri"/>
                        </a:rPr>
                        <a:t>AUC</a:t>
                      </a:r>
                    </a:p>
                  </a:txBody>
                  <a:tcPr/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C3C3C"/>
                          </a:solidFill>
                          <a:latin typeface="Calibri"/>
                        </a:rPr>
                        <a:t>Logistic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C3C3C"/>
                          </a:solidFill>
                          <a:latin typeface="Calibri"/>
                        </a:rPr>
                        <a:t>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C3C3C"/>
                          </a:solidFill>
                          <a:latin typeface="Calibri"/>
                        </a:rPr>
                        <a:t>0.93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C3C3C"/>
                          </a:solidFill>
                          <a:latin typeface="Calibri"/>
                        </a:rPr>
                        <a:t>0.86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C3C3C"/>
                          </a:solidFill>
                          <a:latin typeface="Calibri"/>
                        </a:rPr>
                        <a:t>0.97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C3C3C"/>
                          </a:solidFill>
                          <a:latin typeface="Calibri"/>
                        </a:rPr>
                        <a:t>0.98</a:t>
                      </a:r>
                    </a:p>
                  </a:txBody>
                  <a:tcPr/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C3C3C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C3C3C"/>
                          </a:solidFill>
                          <a:latin typeface="Calibri"/>
                        </a:rPr>
                        <a:t>0.99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C3C3C"/>
                          </a:solidFill>
                          <a:latin typeface="Calibri"/>
                        </a:rPr>
                        <a:t>0.78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C3C3C"/>
                          </a:solidFill>
                          <a:latin typeface="Calibri"/>
                        </a:rPr>
                        <a:t>0.85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C3C3C"/>
                          </a:solidFill>
                          <a:latin typeface="Calibri"/>
                        </a:rPr>
                        <a:t>0.98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C3C3C"/>
                          </a:solidFill>
                          <a:latin typeface="Calibri"/>
                        </a:rPr>
                        <a:t>0.98</a:t>
                      </a:r>
                    </a:p>
                  </a:txBody>
                  <a:tcPr/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C3C3C"/>
                          </a:solidFill>
                          <a:latin typeface="Calibri"/>
                        </a:rPr>
                        <a:t>Standard Bi-LSTM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C3C3C"/>
                          </a:solidFill>
                          <a:latin typeface="Calibri"/>
                        </a:rPr>
                        <a:t>0.89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C3C3C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C3C3C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C3C3C"/>
                          </a:solidFill>
                          <a:latin typeface="Calibri"/>
                        </a:rPr>
                        <a:t>0.98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C3C3C"/>
                          </a:solidFill>
                          <a:latin typeface="Calibri"/>
                        </a:rPr>
                        <a:t>0.88</a:t>
                      </a:r>
                    </a:p>
                  </a:txBody>
                  <a:tcPr/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C3C3C"/>
                          </a:solidFill>
                          <a:latin typeface="Calibri"/>
                        </a:rPr>
                        <a:t>Fraud-BERT Baseline [1]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C3C3C"/>
                          </a:solidFill>
                          <a:latin typeface="Calibri"/>
                        </a:rPr>
                        <a:t>0.94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C3C3C"/>
                          </a:solidFill>
                          <a:latin typeface="Calibri"/>
                        </a:rPr>
                        <a:t>0.92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C3C3C"/>
                          </a:solidFill>
                          <a:latin typeface="Calibri"/>
                        </a:rPr>
                        <a:t>0.93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C3C3C"/>
                          </a:solidFill>
                          <a:latin typeface="Calibri"/>
                        </a:rPr>
                        <a:t>0.99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C3C3C"/>
                          </a:solidFill>
                          <a:latin typeface="Calibri"/>
                        </a:rPr>
                        <a:t>0.99</a:t>
                      </a:r>
                    </a:p>
                  </a:txBody>
                  <a:tcPr/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02C57"/>
                          </a:solidFill>
                          <a:latin typeface="Calibri"/>
                        </a:rPr>
                        <a:t>Proposed BERT-BiLSTM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02C57"/>
                          </a:solidFill>
                          <a:latin typeface="Calibri"/>
                        </a:rPr>
                        <a:t>0.97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02C57"/>
                          </a:solidFill>
                          <a:latin typeface="Calibri"/>
                        </a:rPr>
                        <a:t>0.92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02C57"/>
                          </a:solidFill>
                          <a:latin typeface="Calibri"/>
                        </a:rPr>
                        <a:t>0.94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02C57"/>
                          </a:solidFill>
                          <a:latin typeface="Calibri"/>
                        </a:rPr>
                        <a:t>0.99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02C57"/>
                          </a:solidFill>
                          <a:latin typeface="Calibri"/>
                        </a:rPr>
                        <a:t>0.99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65760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>
                <a:solidFill>
                  <a:srgbClr val="102C57"/>
                </a:solidFill>
                <a:latin typeface="Calibri"/>
              </a:rPr>
              <a:t>Key Observations: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323232"/>
                </a:solidFill>
                <a:latin typeface="Calibri"/>
              </a:rPr>
              <a:t>* The Proposed BERT-BiLSTM model achieves a macro-averaged F1-score of 0.94 (94.42%) and precision of 0.97 (96.74%), outperforming the published Fraud-BERT baseline across all metrics.</a:t>
            </a:r>
          </a:p>
          <a:p>
            <a:r>
              <a:rPr sz="1400">
                <a:solidFill>
                  <a:srgbClr val="323232"/>
                </a:solidFill>
                <a:latin typeface="Calibri"/>
              </a:rPr>
              <a:t>* Specifically on the minority fraudulent class (Class 1), the model achieves an F1-score of 89.36% and catches 147 out of 173 fraud cases while maintaining extremely low false alarm rates.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56360"/>
            <a:ext cx="2133569" cy="3651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>
                <a:solidFill>
                  <a:srgbClr val="646464"/>
                </a:solidFill>
                <a:latin typeface="Calibri"/>
              </a:rPr>
              <a:t>Department of Computer Science and Engineering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24230" y="6356360"/>
            <a:ext cx="2895630" cy="3651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>
                <a:solidFill>
                  <a:srgbClr val="646464"/>
                </a:solidFill>
                <a:latin typeface="Calibri"/>
              </a:rPr>
              <a:t>Akhilesh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53230" y="6356360"/>
            <a:ext cx="2133569" cy="3651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46464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102C57"/>
                </a:solidFill>
                <a:latin typeface="Calibri"/>
              </a:rPr>
              <a:t>Conclusion &amp; 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800"/>
              </a:spcAft>
            </a:pPr>
            <a:r>
              <a:rPr sz="1800">
                <a:solidFill>
                  <a:srgbClr val="323232"/>
                </a:solidFill>
                <a:latin typeface="Calibri"/>
              </a:rPr>
              <a:t>A sequence-preserving BERT-BiLSTM framework was proposed and evaluated on the EMSCAD dataset.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23232"/>
                </a:solidFill>
                <a:latin typeface="Calibri"/>
              </a:rPr>
              <a:t>Demonstrated that passing full token hidden states to a 2-layer Bi-LSTM head preserves sequential text context, outperforming traditional linear heads on the [CLS] token.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23232"/>
                </a:solidFill>
                <a:latin typeface="Calibri"/>
              </a:rPr>
              <a:t>Resolved the black-box limitation of previous deep learning models by integrating SHAP for token-level explainability, indicating clear deceptive fraud keywords.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23232"/>
                </a:solidFill>
                <a:latin typeface="Calibri"/>
              </a:rPr>
              <a:t>The model achieves a macro precision of 0.97, recall of 0.92, F1-score of 0.94, and AUC of 0.99, outperforming existing baselines.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23232"/>
                </a:solidFill>
                <a:latin typeface="Calibri"/>
              </a:rPr>
              <a:t>Future Scope: Incorporate structured metadata (salary ranges, location data) and benchmark generalization across multi-source/multilingual job boards.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356360"/>
            <a:ext cx="2133569" cy="3651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>
                <a:solidFill>
                  <a:srgbClr val="646464"/>
                </a:solidFill>
                <a:latin typeface="Calibri"/>
              </a:rPr>
              <a:t>Department of Computer Science and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24230" y="6356360"/>
            <a:ext cx="2895630" cy="3651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>
                <a:solidFill>
                  <a:srgbClr val="646464"/>
                </a:solidFill>
                <a:latin typeface="Calibri"/>
              </a:rPr>
              <a:t>Akhilesh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53230" y="6356360"/>
            <a:ext cx="2133569" cy="3651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46464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102</Words>
  <Application>Microsoft Office PowerPoint</Application>
  <PresentationFormat>On-screen Show (4:3)</PresentationFormat>
  <Paragraphs>46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Proposed Title of the Dissertation </vt:lpstr>
      <vt:lpstr>Table of Contents</vt:lpstr>
      <vt:lpstr>Introduction-1</vt:lpstr>
      <vt:lpstr>Literature Review</vt:lpstr>
      <vt:lpstr>Literature Review</vt:lpstr>
      <vt:lpstr>Bibliography or References</vt:lpstr>
      <vt:lpstr>Thank you  Queries?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of the topic</dc:title>
  <dc:creator>cu</dc:creator>
  <cp:lastModifiedBy>CU</cp:lastModifiedBy>
  <cp:revision>6</cp:revision>
  <dcterms:created xsi:type="dcterms:W3CDTF">2017-06-08T07:27:19Z</dcterms:created>
  <dcterms:modified xsi:type="dcterms:W3CDTF">2026-08-24T09:14:45Z</dcterms:modified>
</cp:coreProperties>
</file>