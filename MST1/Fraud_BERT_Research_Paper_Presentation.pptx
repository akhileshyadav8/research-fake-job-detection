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5"/>
  </p:notesMasterIdLst>
  <p:handoutMasterIdLst>
    <p:handoutMasterId r:id="rId16"/>
  </p:handoutMasterIdLst>
  <p:sldIdLst>
    <p:sldId id="277" r:id="rId4"/>
    <p:sldId id="400" r:id="rId5"/>
    <p:sldId id="424" r:id="rId6"/>
    <p:sldId id="408" r:id="rId7"/>
    <p:sldId id="401" r:id="rId8"/>
    <p:sldId id="421" r:id="rId9"/>
    <p:sldId id="409" r:id="rId10"/>
    <p:sldId id="420" r:id="rId11"/>
    <p:sldId id="422" r:id="rId12"/>
    <p:sldId id="423" r:id="rId13"/>
    <p:sldId id="4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4" autoAdjust="0"/>
    <p:restoredTop sz="95196" autoAdjust="0"/>
  </p:normalViewPr>
  <p:slideViewPr>
    <p:cSldViewPr snapToGrid="0">
      <p:cViewPr varScale="1">
        <p:scale>
          <a:sx n="75" d="100"/>
          <a:sy n="75" d="100"/>
        </p:scale>
        <p:origin x="1128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7432" y="1417388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sz="2200" b="1" i="0">
                <a:solidFill>
                  <a:srgbClr val="102C57"/>
                </a:solidFill>
                <a:latin typeface="Calibri"/>
              </a:rPr>
              <a:t>Department of Mathematics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03633" y="1687128"/>
            <a:ext cx="857702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sz="3200" b="1" i="0">
                <a:solidFill>
                  <a:srgbClr val="102C57"/>
                </a:solidFill>
                <a:latin typeface="Times New Roman"/>
              </a:rPr>
              <a:t>Fraud-BERT: Transformer Based Context Aware Online Recruitment Fraud Detection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2722" y="4475274"/>
            <a:ext cx="35490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 i="0">
                <a:solidFill>
                  <a:srgbClr val="102C57"/>
                </a:solidFill>
                <a:latin typeface="Calibri"/>
              </a:rPr>
              <a:t>Submitted by: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STUDENT NAME: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Akhilesh Yadav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UID: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25MSM40018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9405" y="4511168"/>
            <a:ext cx="4115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 i="0">
                <a:solidFill>
                  <a:srgbClr val="102C57"/>
                </a:solidFill>
                <a:latin typeface="Calibri"/>
              </a:rPr>
              <a:t>Under the Supervision of: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SUPERVISOR’S NAME: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Dr. Sunil Kumar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680" y="347744"/>
            <a:ext cx="3692039" cy="798287"/>
          </a:xfrm>
        </p:spPr>
        <p:txBody>
          <a:bodyPr>
            <a:normAutofit/>
          </a:bodyPr>
          <a:lstStyle/>
          <a:p>
            <a:r>
              <a:rPr sz="3600" b="1" i="0" dirty="0">
                <a:solidFill>
                  <a:srgbClr val="102C57"/>
                </a:solidFill>
                <a:latin typeface="Calibri"/>
              </a:rP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680" y="1063171"/>
            <a:ext cx="10515600" cy="473165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1. Introduction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2. Literature Review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3. Selected Landmark Study (Fraud-BERT)</a:t>
            </a:r>
            <a:endParaRPr lang="en-US" sz="1600" b="1" i="0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4. Machine Learning Methods &amp; Architecture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5. Proposed Prediction Model Pipeline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6. Dataset &amp; Class Imbalance Analysis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7. Results &amp; Comparative Performance</a:t>
            </a:r>
            <a:endParaRPr lang="en-US" sz="1600" b="1" dirty="0">
              <a:solidFill>
                <a:srgbClr val="102C57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 b="1" i="0" dirty="0">
                <a:solidFill>
                  <a:srgbClr val="102C57"/>
                </a:solidFill>
                <a:latin typeface="Calibri"/>
              </a:rPr>
              <a:t>8. Bibliography or References</a:t>
            </a:r>
            <a:endParaRPr sz="1600" b="0" i="0" dirty="0">
              <a:solidFill>
                <a:srgbClr val="323232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r>
              <a:rPr sz="3600" b="1" i="0" dirty="0">
                <a:solidFill>
                  <a:srgbClr val="102C57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858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Online Recruitment Fraud (ORF) Threat: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Cyber-criminals exploit professional job portals (LinkedIn, Indeed) by posting deceptive employment ads to extort application/visa fees and harvest confidential personal data (PII).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Severe Real-World Class Imbalance: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Genuine postings overwhelmingly dominate online platforms (&gt;95%), creating extreme class sparsity where fake postings account for less than 5% of all advertisements.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Limitations of Traditional Machine Learning: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Conventional algorithms (Logistic Regression, Support Vector Machines, Random Forests) rely on Bag-of-Words (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BoW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) and TF-IDF vectors, completely ignoring syntactic sentence structure and word order.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Deficiencies of Static Word Embeddings: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Early deep learning approaches (CNNs, standard LSTMs) utilize static embeddings (Word2Vec,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GloVe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) that assign a single fixed vector per word, failing to handle context-dependent polysemous fraud terms.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Motivation for Transformer-Based Architecture: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Pre-trained Bidirectional Encoder Representations from Transformers (BERT) leverage multi-head self-attention to dynamically capture bidirectional semantic dependencies, dramatically minimizing false positives.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785" y="331417"/>
            <a:ext cx="10515600" cy="716437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AD280-3F55-72FF-C9B7-7A970916C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5221"/>
              </p:ext>
            </p:extLst>
          </p:nvPr>
        </p:nvGraphicFramePr>
        <p:xfrm>
          <a:off x="838200" y="1306567"/>
          <a:ext cx="1015345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590">
                  <a:extLst>
                    <a:ext uri="{9D8B030D-6E8A-4147-A177-3AD203B41FA5}">
                      <a16:colId xmlns:a16="http://schemas.microsoft.com/office/drawing/2014/main" val="2688401972"/>
                    </a:ext>
                  </a:extLst>
                </a:gridCol>
                <a:gridCol w="4004137">
                  <a:extLst>
                    <a:ext uri="{9D8B030D-6E8A-4147-A177-3AD203B41FA5}">
                      <a16:colId xmlns:a16="http://schemas.microsoft.com/office/drawing/2014/main" val="1537079347"/>
                    </a:ext>
                  </a:extLst>
                </a:gridCol>
                <a:gridCol w="2538364">
                  <a:extLst>
                    <a:ext uri="{9D8B030D-6E8A-4147-A177-3AD203B41FA5}">
                      <a16:colId xmlns:a16="http://schemas.microsoft.com/office/drawing/2014/main" val="1235190417"/>
                    </a:ext>
                  </a:extLst>
                </a:gridCol>
                <a:gridCol w="2538364">
                  <a:extLst>
                    <a:ext uri="{9D8B030D-6E8A-4147-A177-3AD203B41FA5}">
                      <a16:colId xmlns:a16="http://schemas.microsoft.com/office/drawing/2014/main" val="42579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102C57"/>
                          </a:solidFill>
                          <a:latin typeface="Calibri"/>
                        </a:rPr>
                        <a:t>Paper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02C57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02C57"/>
                          </a:solidFill>
                          <a:latin typeface="Calibri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02C57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07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323232"/>
                          </a:solidFill>
                          <a:latin typeface="Calibri"/>
                        </a:rPr>
                        <a:t>Fraud-BERT: Transformer Based Context Aware Online Recruitment Fraud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K. Taneja, J. Vashishtha, S. Ratnoo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10.1007/s44425-025-00109-x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87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Detecting Fake Job Postings Using Bidirectional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A. S. Pillai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10.56726/IRJMETS34628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9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A Machine Learning Approach to Detecting Fraudulent Job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M. Naudé, K. J. Adebayo, R. Nanda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10.1007/s00146-021-01314-z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607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Detecting Fraud Job Recruitment Using Features Reflecting from Real-world Knowledge of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B. Chiraratanasopha, T. Chay-intr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10.55003/cast.2022.06.22.015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2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Online Recruitment Fraud Detection Using Deep Learning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323232"/>
                          </a:solidFill>
                          <a:latin typeface="Calibri"/>
                        </a:rPr>
                        <a:t>G. Varshitha, K. Sowmya, K. Sheshma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323232"/>
                          </a:solidFill>
                          <a:latin typeface="Calibri"/>
                        </a:rPr>
                        <a:t>10.36948/ijfmr.2026.v08i02.14582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6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2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4854"/>
            <a:ext cx="10515600" cy="1325563"/>
          </a:xfrm>
        </p:spPr>
        <p:txBody>
          <a:bodyPr>
            <a:normAutofit/>
          </a:bodyPr>
          <a:lstStyle/>
          <a:p>
            <a:r>
              <a:rPr sz="2600" b="1" i="0">
                <a:solidFill>
                  <a:srgbClr val="102C57"/>
                </a:solidFill>
                <a:latin typeface="Calibri"/>
              </a:rPr>
              <a:t>Fraud-BERT: Transformer Based Context Aware Online Recruitment Fraud Detection</a:t>
            </a:r>
          </a:p>
          <a:p>
            <a:r>
              <a:rPr sz="1600" b="0" i="1">
                <a:solidFill>
                  <a:srgbClr val="0066CC"/>
                </a:solidFill>
                <a:latin typeface="Calibri"/>
              </a:rPr>
              <a:t>DOI: 10.1007/s44425-025-00109-x  |  Discover Computing (Springer,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15805"/>
            <a:ext cx="10515600" cy="3707860"/>
          </a:xfrm>
        </p:spPr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Goal: </a:t>
            </a:r>
            <a:r>
              <a:rPr sz="2000" b="0" i="0" dirty="0">
                <a:solidFill>
                  <a:srgbClr val="323232"/>
                </a:solidFill>
                <a:latin typeface="Calibri"/>
              </a:rPr>
              <a:t>To develop a high-accuracy, context-aware online recruitment fraud detection framework using fine-tuned BERT transformer architecture.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Why this study is important:</a:t>
            </a:r>
          </a:p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323232"/>
                </a:solidFill>
                <a:latin typeface="Calibri"/>
              </a:rPr>
              <a:t>Online job scams deceive vulnerable job seekers, causing severe monetary extortion, identity theft, and data compromise.</a:t>
            </a:r>
          </a:p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323232"/>
                </a:solidFill>
                <a:latin typeface="Calibri"/>
              </a:rPr>
              <a:t>Traditional machine learning models (LR, SVM, RF) rely on bag-of-words or static embeddings that ignore linguistic context, word order, and polysemy.</a:t>
            </a:r>
          </a:p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323232"/>
                </a:solidFill>
                <a:latin typeface="Calibri"/>
              </a:rPr>
              <a:t>Transformer-based bidirectional self-attention enables deep contextual awareness, significantly reducing false alarms and improving detection reliability on highly imbalanced job post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DD254-6A9D-EC5A-3C0F-9005CE174E46}"/>
              </a:ext>
            </a:extLst>
          </p:cNvPr>
          <p:cNvSpPr txBox="1"/>
          <p:nvPr/>
        </p:nvSpPr>
        <p:spPr>
          <a:xfrm>
            <a:off x="838200" y="1620417"/>
            <a:ext cx="3836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 b="1" i="0">
                <a:solidFill>
                  <a:srgbClr val="102C57"/>
                </a:solidFill>
                <a:latin typeface="Calibri"/>
              </a:rPr>
              <a:t>Authors: </a:t>
            </a:r>
            <a:r>
              <a:rPr sz="2000" b="0" i="0">
                <a:solidFill>
                  <a:srgbClr val="323232"/>
                </a:solidFill>
                <a:latin typeface="Calibri"/>
              </a:rPr>
              <a:t>Khushboo Taneja, Jyoti Vashishtha, Saroj Ratnoo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942"/>
            <a:ext cx="10515600" cy="970189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Dataset Used (EMSCAD)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2F6842-8552-FC78-4FA9-1028AA412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9152"/>
            <a:ext cx="9057640" cy="417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Benchmark Source: </a:t>
            </a:r>
            <a:r>
              <a:rPr sz="1900" b="0" i="0" dirty="0">
                <a:solidFill>
                  <a:srgbClr val="323232"/>
                </a:solidFill>
                <a:latin typeface="Calibri"/>
              </a:rPr>
              <a:t>Employment Scam Aegean Dataset (EMSCAD) / Kaggle Repository (University of the Aegean)</a:t>
            </a:r>
          </a:p>
          <a:p>
            <a:pPr marL="0" indent="0" algn="just">
              <a:spcAft>
                <a:spcPts val="4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Dataset Characteristics: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Contains 17,880 real-world job advertisement records collected from 2012 to 2014.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Rich Textual Attributes: Job Title, Company Profile, Description, Requirements, and Benefits.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Categorical &amp; Metadata Features: Telecommuting, Has Company Logo, Has Screening Questions, Employment Type, Required Experience, and Education.</a:t>
            </a:r>
          </a:p>
          <a:p>
            <a:pPr marL="0" indent="0" algn="just">
              <a:spcAft>
                <a:spcPts val="4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Target Class Distribution (Severe Real-World Imbalance):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Class 0 (Legitimate Postings): 17,014 samples (~ 95.16%)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Class 1 (Fraudulent Postings): 866 samples (~ 4.84%)</a:t>
            </a:r>
          </a:p>
          <a:p>
            <a:pPr marL="457200" lvl="1" indent="0" algn="just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Imbalance Challenge: Due to the high class skew, macro-averaged metrics (Macro F1 &amp; ROC-AUC) are mandatory to prevent majority-class bias.</a:t>
            </a:r>
          </a:p>
        </p:txBody>
      </p:sp>
    </p:spTree>
    <p:extLst>
      <p:ext uri="{BB962C8B-B14F-4D97-AF65-F5344CB8AC3E}">
        <p14:creationId xmlns:p14="http://schemas.microsoft.com/office/powerpoint/2010/main" val="269460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384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Machine Learning 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3510"/>
            <a:ext cx="10515600" cy="508614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2000" b="0" i="0" dirty="0">
                <a:solidFill>
                  <a:srgbClr val="646464"/>
                </a:solidFill>
                <a:latin typeface="Calibri"/>
              </a:rPr>
              <a:t>The study employs:</a:t>
            </a:r>
          </a:p>
          <a:p>
            <a:pPr marL="0" indent="0">
              <a:spcAft>
                <a:spcPts val="4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Fraud-BERT (Bidirectional Encoder Representations from Transformers):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Pre-trained multi-layer bidirectional Transformer encoder network (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bert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-base-uncased).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Extracts dynamic token representations via masked language modeling and next sentence objectives.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Captures full contextual dependencies from both left-to-right and right-to-left simultaneously.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700" b="0" i="0" dirty="0">
                <a:solidFill>
                  <a:srgbClr val="323232"/>
                </a:solidFill>
                <a:latin typeface="Calibri"/>
              </a:rPr>
              <a:t>• Fine-tuned end-to-end with a classification head on domain-specific recruitment data.</a:t>
            </a:r>
          </a:p>
          <a:p>
            <a:pPr marL="0" indent="0">
              <a:spcAft>
                <a:spcPts val="4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Transformer Architecture Components: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IN" sz="1700" b="0" i="0" dirty="0">
                <a:solidFill>
                  <a:srgbClr val="323232"/>
                </a:solidFill>
                <a:latin typeface="Calibri"/>
              </a:rPr>
              <a:t>• Input Layer: Element-wise sum of Token Embeddings, Positional Embeddings, and Segment Embeddings.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IN" sz="1700" b="0" i="0" dirty="0">
                <a:solidFill>
                  <a:srgbClr val="323232"/>
                </a:solidFill>
                <a:latin typeface="Calibri"/>
              </a:rPr>
              <a:t>• 12 Transformer Encoder Blocks: Featuring Multi-Head Self-Attention mechanisms (768 hidden dimensions).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IN" sz="1700" b="0" i="0" dirty="0">
                <a:solidFill>
                  <a:srgbClr val="323232"/>
                </a:solidFill>
                <a:latin typeface="Calibri"/>
              </a:rPr>
              <a:t>• Feed-Forward Layers: Position-wise feed-forward networks with Dropout, Layer Normalization, and Residual Connections.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IN" sz="1700" b="0" i="0" dirty="0">
                <a:solidFill>
                  <a:srgbClr val="323232"/>
                </a:solidFill>
                <a:latin typeface="Calibri"/>
              </a:rPr>
              <a:t>• Classification Head: Linear dense projection layer over the [CLS] token with </a:t>
            </a:r>
            <a:r>
              <a:rPr lang="en-IN" sz="1700" b="0" i="0" dirty="0" err="1">
                <a:solidFill>
                  <a:srgbClr val="323232"/>
                </a:solidFill>
                <a:latin typeface="Calibri"/>
              </a:rPr>
              <a:t>Softmax</a:t>
            </a:r>
            <a:r>
              <a:rPr lang="en-IN" sz="1700" b="0" i="0" dirty="0">
                <a:solidFill>
                  <a:srgbClr val="323232"/>
                </a:solidFill>
                <a:latin typeface="Calibri"/>
              </a:rPr>
              <a:t> probability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25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724"/>
            <a:ext cx="7655560" cy="984704"/>
          </a:xfrm>
        </p:spPr>
        <p:txBody>
          <a:bodyPr>
            <a:normAutofit/>
          </a:bodyPr>
          <a:lstStyle/>
          <a:p>
            <a:r>
              <a:rPr sz="3600" b="1" i="0" dirty="0">
                <a:solidFill>
                  <a:srgbClr val="102C57"/>
                </a:solidFill>
                <a:latin typeface="Calibri"/>
              </a:rPr>
              <a:t>Proposed Prediction 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9835"/>
            <a:ext cx="10515600" cy="50465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000" b="0" i="0" dirty="0">
                <a:solidFill>
                  <a:srgbClr val="646464"/>
                </a:solidFill>
                <a:latin typeface="Calibri"/>
              </a:rPr>
              <a:t>The prediction framework operates across 5 structured stages:</a:t>
            </a:r>
          </a:p>
          <a:p>
            <a:pPr marL="0" indent="0" algn="just">
              <a:spcAft>
                <a:spcPts val="5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Stage 1: Data Preprocessing &amp; Tokenization: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Text normalization, noise &amp; HTML tag cleaning, and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WordPiece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 tokenization with a sequence length of 512 tokens.</a:t>
            </a:r>
          </a:p>
          <a:p>
            <a:pPr marL="0" indent="0" algn="just">
              <a:spcAft>
                <a:spcPts val="5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Stage 2: Contextual Representation Extraction: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Passing token IDs through 12 transformer encoder blocks to generate 768-dimensional bidirectional contextual embeddings.</a:t>
            </a:r>
          </a:p>
          <a:p>
            <a:pPr marL="0" indent="0" algn="just">
              <a:spcAft>
                <a:spcPts val="5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Stage 3: Model Fine-Tuning &amp; Optimization: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Fine-tuning Fraud-BERT end-to-end using the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AdamW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 optimizer with weight decay, linear warmup, and binary cross-entropy loss.</a:t>
            </a:r>
          </a:p>
          <a:p>
            <a:pPr marL="0" indent="0" algn="just">
              <a:spcAft>
                <a:spcPts val="5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Stage 4: Prediction &amp; Classification Inference: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Extracting the [CLS] special token vector and projecting through a dense classification head to output class probabilities (0 = Legitimate, 1 = Fraudulent).</a:t>
            </a:r>
          </a:p>
          <a:p>
            <a:pPr marL="0" indent="0" algn="just">
              <a:spcAft>
                <a:spcPts val="5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• Stage 5: Multi-Metric Performance Evaluation: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Comprehensive evaluation using Accuracy, Macro Precision, Macro Recall, Macro F1-Score, and ROC-AUC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808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9138"/>
            <a:ext cx="6404429" cy="926645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Results &amp;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057"/>
            <a:ext cx="10515600" cy="4594906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2000" b="1" i="0" dirty="0">
                <a:solidFill>
                  <a:srgbClr val="102C57"/>
                </a:solidFill>
                <a:latin typeface="Calibri"/>
              </a:rPr>
              <a:t>Fraud-BERT achieved state-of-the-art results on the EMSCAD benchmark:</a:t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 dirty="0">
                <a:solidFill>
                  <a:srgbClr val="323232"/>
                </a:solidFill>
                <a:latin typeface="Calibri"/>
              </a:rPr>
              <a:t>• Overall Classification Accuracy: </a:t>
            </a:r>
            <a:r>
              <a:rPr sz="1800" b="1" i="0" dirty="0">
                <a:solidFill>
                  <a:srgbClr val="102C57"/>
                </a:solidFill>
                <a:latin typeface="Calibri"/>
              </a:rPr>
              <a:t>99.0% (0.99) </a:t>
            </a:r>
            <a:r>
              <a:rPr sz="1600" b="0" i="1" dirty="0">
                <a:solidFill>
                  <a:srgbClr val="505050"/>
                </a:solidFill>
                <a:latin typeface="Calibri"/>
              </a:rPr>
              <a:t>(Near-flawless classification across the complete test partition.)</a:t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 dirty="0">
                <a:solidFill>
                  <a:srgbClr val="323232"/>
                </a:solidFill>
                <a:latin typeface="Calibri"/>
              </a:rPr>
              <a:t>• Macro-Averaged Precision: </a:t>
            </a:r>
            <a:r>
              <a:rPr sz="1800" b="1" i="0" dirty="0">
                <a:solidFill>
                  <a:srgbClr val="102C57"/>
                </a:solidFill>
                <a:latin typeface="Calibri"/>
              </a:rPr>
              <a:t>94.0% (0.94) </a:t>
            </a:r>
            <a:r>
              <a:rPr sz="1600" b="0" i="1" dirty="0">
                <a:solidFill>
                  <a:srgbClr val="505050"/>
                </a:solidFill>
                <a:latin typeface="Calibri"/>
              </a:rPr>
              <a:t>(High precision ensures minimal false alarms for legitimate employers.)</a:t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 dirty="0">
                <a:solidFill>
                  <a:srgbClr val="323232"/>
                </a:solidFill>
                <a:latin typeface="Calibri"/>
              </a:rPr>
              <a:t>• Macro-Averaged Recall: </a:t>
            </a:r>
            <a:r>
              <a:rPr sz="1800" b="1" i="0" dirty="0">
                <a:solidFill>
                  <a:srgbClr val="102C57"/>
                </a:solidFill>
                <a:latin typeface="Calibri"/>
              </a:rPr>
              <a:t>92.0% (0.92) </a:t>
            </a:r>
            <a:r>
              <a:rPr sz="1600" b="0" i="1" dirty="0">
                <a:solidFill>
                  <a:srgbClr val="505050"/>
                </a:solidFill>
                <a:latin typeface="Calibri"/>
              </a:rPr>
              <a:t>(Detects over 92% of fraudulent listings despite extreme class sparsity.)</a:t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 dirty="0">
                <a:solidFill>
                  <a:srgbClr val="323232"/>
                </a:solidFill>
                <a:latin typeface="Calibri"/>
              </a:rPr>
              <a:t>• Macro-Averaged F1-Score: </a:t>
            </a:r>
            <a:r>
              <a:rPr sz="1800" b="1" i="0" dirty="0">
                <a:solidFill>
                  <a:srgbClr val="102C57"/>
                </a:solidFill>
                <a:latin typeface="Calibri"/>
              </a:rPr>
              <a:t>93.0% (0.93) </a:t>
            </a:r>
            <a:r>
              <a:rPr sz="1600" b="0" i="1" dirty="0">
                <a:solidFill>
                  <a:srgbClr val="505050"/>
                </a:solidFill>
                <a:latin typeface="Calibri"/>
              </a:rPr>
              <a:t>(Balanced harmonic performance across both majority and minority classes.)</a:t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 dirty="0">
                <a:solidFill>
                  <a:srgbClr val="323232"/>
                </a:solidFill>
                <a:latin typeface="Calibri"/>
              </a:rPr>
              <a:t>• ROC-AUC Score: </a:t>
            </a:r>
            <a:r>
              <a:rPr sz="1800" b="1" i="0" dirty="0">
                <a:solidFill>
                  <a:srgbClr val="102C57"/>
                </a:solidFill>
                <a:latin typeface="Calibri"/>
              </a:rPr>
              <a:t>0.99 </a:t>
            </a:r>
            <a:r>
              <a:rPr sz="1600" b="0" i="1" dirty="0">
                <a:solidFill>
                  <a:srgbClr val="505050"/>
                </a:solidFill>
                <a:latin typeface="Calibri"/>
              </a:rPr>
              <a:t>(Demonstrates exceptional discrimination capability between genuine and fake posts.)</a:t>
            </a:r>
          </a:p>
          <a:p>
            <a:pPr marL="0" indent="0">
              <a:spcBef>
                <a:spcPts val="800"/>
              </a:spcBef>
              <a:buNone/>
            </a:pPr>
            <a:r>
              <a:rPr sz="1800" b="1" i="0" dirty="0">
                <a:solidFill>
                  <a:srgbClr val="102C57"/>
                </a:solidFill>
                <a:latin typeface="Calibri"/>
              </a:rPr>
              <a:t>Comparative Conclusion: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Fraud-BERT decisively outperforms traditional ML models (Logistic Regression F1: 0.86, Random Forest F1: 0.85) and static Bi-LSTM (AUC: 0.88) by capturing deep bidirectional linguistic context across complex recruitment scams.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8713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7A3C-C78E-3208-1872-119F59D6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677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Bibliography or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669F-24DE-9251-47BD-73C228B1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283"/>
            <a:ext cx="10515600" cy="51385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[1]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Taneja, K.,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Vashishtha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J., &amp;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Ratnoo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S. (2025). Fraud-BERT: Transformer based context aware online recruitment fraud detection.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Discover Computing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28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(9), 1–16.</a:t>
            </a:r>
            <a:r>
              <a:rPr sz="1700" b="0" i="0" dirty="0">
                <a:solidFill>
                  <a:srgbClr val="0066CC"/>
                </a:solidFill>
                <a:latin typeface="Calibri"/>
              </a:rPr>
              <a:t> https://doi.org/10.1007/s44425-025-00109-x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[2]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Pillai, A. S. (2023). Detecting fake job postings using bidirectional LSTM.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International Research Journal of Modernization in Engineering Technology and Science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5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(3), 3883–3890.</a:t>
            </a:r>
            <a:r>
              <a:rPr sz="1700" b="0" i="0" dirty="0">
                <a:solidFill>
                  <a:srgbClr val="0066CC"/>
                </a:solidFill>
                <a:latin typeface="Calibri"/>
              </a:rPr>
              <a:t> https://doi.org/10.56726/IRJMETS34628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[3]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Naudé, M., Adebayo, K. J., &amp; Nanda, R. (2023). A machine learning approach to detecting fraudulent job types.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AI &amp; SOCIETY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38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(3), 1013–1024.</a:t>
            </a:r>
            <a:r>
              <a:rPr sz="1700" b="0" i="0" dirty="0">
                <a:solidFill>
                  <a:srgbClr val="0066CC"/>
                </a:solidFill>
                <a:latin typeface="Calibri"/>
              </a:rPr>
              <a:t> https://doi.org/10.1007/s00146-021-01314-z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[4]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Chiraratanasopha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B., &amp; Chay-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intr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T. (2022). Detecting fraud job recruitment using features reflecting from real-world knowledge of fraud.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Current Applied Science and Technology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22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(6), 1–12.</a:t>
            </a:r>
            <a:r>
              <a:rPr sz="1700" b="0" i="0" dirty="0">
                <a:solidFill>
                  <a:srgbClr val="0066CC"/>
                </a:solidFill>
                <a:latin typeface="Calibri"/>
              </a:rPr>
              <a:t> https://doi.org/10.55003/cast.2022.06.22.015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sz="1700" b="1" i="0" dirty="0">
                <a:solidFill>
                  <a:srgbClr val="102C57"/>
                </a:solidFill>
                <a:latin typeface="Calibri"/>
              </a:rPr>
              <a:t>[5] 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Varshitha, G., Sowmya, K., </a:t>
            </a:r>
            <a:r>
              <a:rPr sz="1700" b="0" i="0" dirty="0" err="1">
                <a:solidFill>
                  <a:srgbClr val="323232"/>
                </a:solidFill>
                <a:latin typeface="Calibri"/>
              </a:rPr>
              <a:t>Sheshma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K., Sowmya, K., &amp; Manikandan, R. A. (2026). Online recruitment fraud detection using deep learning approaches.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International Journal for Multidisciplinary Research (IJFMR)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, </a:t>
            </a:r>
            <a:r>
              <a:rPr sz="1700" b="0" i="1" dirty="0">
                <a:solidFill>
                  <a:srgbClr val="323232"/>
                </a:solidFill>
                <a:latin typeface="Calibri"/>
              </a:rPr>
              <a:t>8</a:t>
            </a:r>
            <a:r>
              <a:rPr sz="1700" b="0" i="0" dirty="0">
                <a:solidFill>
                  <a:srgbClr val="323232"/>
                </a:solidFill>
                <a:latin typeface="Calibri"/>
              </a:rPr>
              <a:t>(2), 1–9.</a:t>
            </a:r>
            <a:r>
              <a:rPr sz="1700" b="0" i="0" dirty="0">
                <a:solidFill>
                  <a:srgbClr val="0066CC"/>
                </a:solidFill>
                <a:latin typeface="Calibri"/>
              </a:rPr>
              <a:t> https://doi.org/10.36948/ijfmr.2026.v08i02.14582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A35CC-DD65-AB1D-D9C1-30BD38C2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81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686" cy="4571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864077"/>
            <a:ext cx="12191999" cy="1129845"/>
          </a:xfrm>
        </p:spPr>
        <p:txBody>
          <a:bodyPr>
            <a:normAutofit/>
          </a:bodyPr>
          <a:lstStyle/>
          <a:p>
            <a:pPr algn="ctr"/>
            <a:r>
              <a:rPr sz="6000" b="1" i="0">
                <a:solidFill>
                  <a:srgbClr val="102C57"/>
                </a:solidFill>
                <a:latin typeface="Times New Roman"/>
              </a:rPr>
              <a:t>Thank You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2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315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8145</TotalTime>
  <Words>1395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Table of Contents</vt:lpstr>
      <vt:lpstr>Introduction</vt:lpstr>
      <vt:lpstr>Literature Review</vt:lpstr>
      <vt:lpstr>Fraud-BERT: Transformer Based Context Aware Online Recruitment Fraud Detection DOI: 10.1007/s44425-025-00109-x  |  Discover Computing (Springer, 2025)</vt:lpstr>
      <vt:lpstr>Dataset Used (EMSCAD)</vt:lpstr>
      <vt:lpstr>Machine Learning Methods Used</vt:lpstr>
      <vt:lpstr>Proposed Prediction Model Pipeline</vt:lpstr>
      <vt:lpstr>Results &amp; Performance Analysis</vt:lpstr>
      <vt:lpstr>Bibliography or 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Akhilesh Yadav</cp:lastModifiedBy>
  <cp:revision>721</cp:revision>
  <dcterms:created xsi:type="dcterms:W3CDTF">2019-01-09T10:33:58Z</dcterms:created>
  <dcterms:modified xsi:type="dcterms:W3CDTF">2026-09-01T04:40:28Z</dcterms:modified>
</cp:coreProperties>
</file>